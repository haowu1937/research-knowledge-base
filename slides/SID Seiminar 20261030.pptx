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3"/>
    <p:sldId id="266" r:id="rId4"/>
    <p:sldId id="267" r:id="rId5"/>
    <p:sldId id="270" r:id="rId6"/>
    <p:sldId id="271" r:id="rId7"/>
    <p:sldId id="272" r:id="rId8"/>
    <p:sldId id="274" r:id="rId9"/>
    <p:sldId id="268" r:id="rId10"/>
    <p:sldId id="269" r:id="rId11"/>
    <p:sldId id="258" r:id="rId12"/>
    <p:sldId id="259" r:id="rId13"/>
    <p:sldId id="260" r:id="rId14"/>
    <p:sldId id="264" r:id="rId15"/>
    <p:sldId id="261" r:id="rId16"/>
    <p:sldId id="275" r:id="rId17"/>
    <p:sldId id="262" r:id="rId18"/>
    <p:sldId id="278" r:id="rId19"/>
    <p:sldId id="279" r:id="rId20"/>
    <p:sldId id="284" r:id="rId21"/>
    <p:sldId id="280" r:id="rId22"/>
    <p:sldId id="287" r:id="rId23"/>
    <p:sldId id="285" r:id="rId24"/>
    <p:sldId id="286" r:id="rId25"/>
    <p:sldId id="281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88" d="100"/>
          <a:sy n="88" d="100"/>
        </p:scale>
        <p:origin x="2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5967D-7D80-4538-82AA-B9782532E3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A8E6E-620A-4453-AF4A-B2204E940A9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28.png"/><Relationship Id="rId23" Type="http://schemas.openxmlformats.org/officeDocument/2006/relationships/image" Target="../media/image27.png"/><Relationship Id="rId22" Type="http://schemas.openxmlformats.org/officeDocument/2006/relationships/image" Target="../media/image26.png"/><Relationship Id="rId21" Type="http://schemas.openxmlformats.org/officeDocument/2006/relationships/image" Target="../media/image25.png"/><Relationship Id="rId20" Type="http://schemas.openxmlformats.org/officeDocument/2006/relationships/image" Target="../media/image24.png"/><Relationship Id="rId2" Type="http://schemas.openxmlformats.org/officeDocument/2006/relationships/image" Target="../media/image5.png"/><Relationship Id="rId19" Type="http://schemas.openxmlformats.org/officeDocument/2006/relationships/image" Target="../media/image23.png"/><Relationship Id="rId18" Type="http://schemas.openxmlformats.org/officeDocument/2006/relationships/image" Target="../media/image22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png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40.png"/><Relationship Id="rId31" Type="http://schemas.openxmlformats.org/officeDocument/2006/relationships/image" Target="../media/image39.png"/><Relationship Id="rId30" Type="http://schemas.openxmlformats.org/officeDocument/2006/relationships/image" Target="../media/image38.png"/><Relationship Id="rId3" Type="http://schemas.openxmlformats.org/officeDocument/2006/relationships/image" Target="../media/image3.png"/><Relationship Id="rId29" Type="http://schemas.openxmlformats.org/officeDocument/2006/relationships/image" Target="../media/image37.png"/><Relationship Id="rId28" Type="http://schemas.openxmlformats.org/officeDocument/2006/relationships/image" Target="../media/image36.png"/><Relationship Id="rId27" Type="http://schemas.openxmlformats.org/officeDocument/2006/relationships/image" Target="../media/image35.png"/><Relationship Id="rId26" Type="http://schemas.openxmlformats.org/officeDocument/2006/relationships/image" Target="../media/image34.png"/><Relationship Id="rId25" Type="http://schemas.openxmlformats.org/officeDocument/2006/relationships/image" Target="../media/image20.png"/><Relationship Id="rId24" Type="http://schemas.openxmlformats.org/officeDocument/2006/relationships/image" Target="../media/image19.png"/><Relationship Id="rId23" Type="http://schemas.openxmlformats.org/officeDocument/2006/relationships/image" Target="../media/image18.png"/><Relationship Id="rId22" Type="http://schemas.openxmlformats.org/officeDocument/2006/relationships/image" Target="../media/image17.png"/><Relationship Id="rId21" Type="http://schemas.openxmlformats.org/officeDocument/2006/relationships/image" Target="../media/image16.png"/><Relationship Id="rId20" Type="http://schemas.openxmlformats.org/officeDocument/2006/relationships/image" Target="../media/image15.png"/><Relationship Id="rId2" Type="http://schemas.openxmlformats.org/officeDocument/2006/relationships/image" Target="../media/image2.png"/><Relationship Id="rId19" Type="http://schemas.openxmlformats.org/officeDocument/2006/relationships/image" Target="../media/image14.png"/><Relationship Id="rId18" Type="http://schemas.openxmlformats.org/officeDocument/2006/relationships/image" Target="../media/image13.png"/><Relationship Id="rId17" Type="http://schemas.openxmlformats.org/officeDocument/2006/relationships/image" Target="../media/image12.png"/><Relationship Id="rId16" Type="http://schemas.openxmlformats.org/officeDocument/2006/relationships/image" Target="../media/image11.png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2864" y="2431424"/>
            <a:ext cx="2576212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Headline message: 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 userDrawn="1"/>
        </p:nvSpPr>
        <p:spPr>
          <a:xfrm>
            <a:off x="802864" y="978140"/>
            <a:ext cx="9882172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From Ato</a:t>
            </a:r>
            <a:r>
              <a:rPr sz="28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mic IDs to Semantic IDs: Disentangling Compression, Adaptation, and Scoring in Recommendation</a:t>
            </a:r>
            <a:endParaRPr lang="zh-CN" altLang="en-US" sz="28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 userDrawn="1"/>
        </p:nvSpPr>
        <p:spPr>
          <a:xfrm>
            <a:off x="3230736" y="2431375"/>
            <a:ext cx="7877454" cy="95495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"Semantic IDs save parameters, but under a fair comparison they don't improve accuracy"</a:t>
            </a:r>
            <a:endParaRPr lang="en-US" altLang="zh-CN" b="1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 userDrawn="1"/>
        </p:nvSpPr>
        <p:spPr>
          <a:xfrm>
            <a:off x="972559" y="4057077"/>
            <a:ext cx="11099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Findings:</a:t>
            </a:r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 userDrawn="1"/>
        </p:nvSpPr>
        <p:spPr>
          <a:xfrm>
            <a:off x="2738653" y="4057054"/>
            <a:ext cx="8781254" cy="1995249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 b="1"/>
              <a:t>Apparent SID model gains come from training, not the IDs.</a:t>
            </a:r>
            <a:r>
              <a:t> Semantic IDs can look like an improvement, but much of that gain comes from the extra training they get</a:t>
            </a:r>
            <a:r>
              <a:rPr lang="en-US" altLang="zh-CN"/>
              <a:t>.</a:t>
            </a:r>
            <a:endParaRPr lang="en-US" altLang="zh-CN"/>
          </a:p>
          <a:p>
            <a:pPr marL="342900" indent="-342900" algn="l">
              <a:buAutoNum type="arabicPeriod"/>
            </a:pPr>
            <a:r>
              <a:rPr b="1"/>
              <a:t>Compression has a price.</a:t>
            </a:r>
            <a:r>
              <a:t> Swapping item embeddings for shared codes </a:t>
            </a:r>
            <a:r>
              <a:rPr lang="en-US" altLang="zh-CN"/>
              <a:t>reduced recommendation performance</a:t>
            </a:r>
            <a:r>
              <a:t>. Training the codes on the recommendation task wins most of that back, but never all of it.</a:t>
            </a:r>
          </a:p>
          <a:p>
            <a:pPr marL="342900" indent="-342900" algn="l">
              <a:buAutoNum type="arabicPeriod"/>
            </a:pPr>
            <a:r>
              <a:rPr lang="en-US" altLang="zh-CN" b="1"/>
              <a:t>SIDs help rare items</a:t>
            </a:r>
            <a:r>
              <a:rPr lang="en-US" altLang="zh-CN"/>
              <a:t> when used to score candidates at a cost to popular items.</a:t>
            </a:r>
            <a:endParaRPr lang="en-US" altLang="zh-CN"/>
          </a:p>
          <a:p>
            <a:pPr marL="342900" indent="-342900" algn="l">
              <a:buAutoNum type="arabicPeriod"/>
            </a:pP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838210" y="1293769"/>
            <a:ext cx="4299295" cy="1569519"/>
          </a:xfrm>
          <a:prstGeom prst="roundRect">
            <a:avLst>
              <a:gd name="adj" fmla="val 3619"/>
            </a:avLst>
          </a:prstGeom>
          <a:solidFill>
            <a:srgbClr val="FDFCF9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022" y="1426985"/>
            <a:ext cx="4800727" cy="3372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zh-CN" b="1" kern="0" spc="100" dirty="0">
                <a:solidFill>
                  <a:srgbClr val="5A607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What Semantic IDs promise?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0039" y="1893699"/>
            <a:ext cx="3593784" cy="7719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12533" y="1258746"/>
            <a:ext cx="6161412" cy="4409424"/>
          </a:xfrm>
          <a:prstGeom prst="roundRect">
            <a:avLst>
              <a:gd name="adj" fmla="val 3619"/>
            </a:avLst>
          </a:prstGeom>
          <a:solidFill>
            <a:srgbClr val="FDFCF9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74370" y="1426994"/>
            <a:ext cx="5999617" cy="829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b="1" kern="0" spc="100" dirty="0">
                <a:solidFill>
                  <a:srgbClr val="5A607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Why direct comparison with Atomic ID models isn't fair?</a:t>
            </a:r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671"/>
          </a:xfrm>
        </p:spPr>
        <p:txBody>
          <a:bodyPr>
            <a:normAutofit fontScale="90000"/>
          </a:bodyPr>
          <a:lstStyle/>
          <a:p>
            <a:r>
              <a:rPr lang="en-US" altLang="zh-CN" sz="32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Why we need a fair evaluation of SID models</a:t>
            </a:r>
            <a:endParaRPr lang="en-US" sz="3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 userDrawn="1"/>
        </p:nvSpPr>
        <p:spPr>
          <a:xfrm>
            <a:off x="997191" y="1852558"/>
            <a:ext cx="2804795" cy="82994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16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1. Fewer parameters</a:t>
            </a:r>
            <a:endParaRPr lang="en-US" altLang="zh-CN" sz="16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2. Competitive accuracy</a:t>
            </a:r>
            <a:endParaRPr lang="en-US" altLang="zh-CN" sz="16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3. Help for rare/unseen items</a:t>
            </a:r>
            <a:endParaRPr lang="zh-CN" altLang="en-US" sz="16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 userDrawn="1"/>
        </p:nvSpPr>
        <p:spPr>
          <a:xfrm>
            <a:off x="5608126" y="2111585"/>
            <a:ext cx="5625070" cy="1599737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 algn="l">
              <a:buChar char="•"/>
            </a:pPr>
            <a:r>
              <a:rPr lang="en-US" altLang="zh-CN"/>
              <a:t>Too</a:t>
            </a:r>
            <a:r>
              <a:rPr lang="zh-CN" altLang="en-US"/>
              <a:t> </a:t>
            </a:r>
            <a:r>
              <a:rPr lang="en-US" altLang="zh-CN"/>
              <a:t>much</a:t>
            </a:r>
            <a:r>
              <a:rPr lang="zh-CN" altLang="en-US"/>
              <a:t> </a:t>
            </a:r>
            <a:r>
              <a:rPr lang="en-US" altLang="zh-CN"/>
              <a:t>changes</a:t>
            </a:r>
            <a:r>
              <a:rPr lang="zh-CN" altLang="en-US"/>
              <a:t> </a:t>
            </a:r>
            <a:r>
              <a:rPr lang="en-US" altLang="zh-CN"/>
              <a:t>at once</a:t>
            </a:r>
            <a:r>
              <a:t>: </a:t>
            </a:r>
          </a:p>
          <a:p>
            <a:pPr lvl="1" algn="l"/>
            <a:r>
              <a:rPr lang="zh-CN" altLang="en-US"/>
              <a:t>- </a:t>
            </a:r>
            <a:r>
              <a:t>the backbone, </a:t>
            </a:r>
          </a:p>
          <a:p>
            <a:pPr lvl="1" algn="l"/>
            <a:r>
              <a:rPr lang="zh-CN" altLang="en-US"/>
              <a:t>- </a:t>
            </a:r>
            <a:r>
              <a:t>the training budget, </a:t>
            </a:r>
          </a:p>
          <a:p>
            <a:pPr lvl="1" algn="l"/>
            <a:r>
              <a:rPr lang="zh-CN" altLang="en-US"/>
              <a:t>- </a:t>
            </a:r>
            <a:r>
              <a:rPr lang="en-US" altLang="zh-CN"/>
              <a:t>sequence representation</a:t>
            </a:r>
            <a:endParaRPr lang="en-US" altLang="zh-CN"/>
          </a:p>
          <a:p>
            <a:pPr lvl="1" algn="l"/>
            <a:r>
              <a:rPr lang="zh-CN" altLang="en-US"/>
              <a:t>-</a:t>
            </a:r>
            <a:r>
              <a:rPr lang="en-US" altLang="zh-CN"/>
              <a:t> output paramterisation</a:t>
            </a:r>
            <a:endParaRPr lang="en-US" altLang="zh-CN"/>
          </a:p>
          <a:p>
            <a:pPr lvl="1" algn="l"/>
            <a:endParaRPr lang="zh-CN" altLang="en-US"/>
          </a:p>
          <a:p>
            <a:pPr marL="285750" lvl="0" indent="-285750" algn="l">
              <a:buChar char="•"/>
            </a:pPr>
            <a:r>
              <a:rPr lang="en-US" altLang="zh-CN"/>
              <a:t>Codes play two different roles: </a:t>
            </a:r>
            <a:endParaRPr lang="en-US" altLang="zh-CN"/>
          </a:p>
          <a:p>
            <a:pPr lvl="1" indent="0" algn="l">
              <a:buNone/>
            </a:pPr>
            <a:r>
              <a:rPr lang="zh-CN" altLang="en-US"/>
              <a:t>-</a:t>
            </a:r>
            <a:r>
              <a:rPr lang="zh-CN" altLang="en-US" b="1"/>
              <a:t> </a:t>
            </a:r>
            <a:r>
              <a:rPr lang="en-US" altLang="zh-CN" b="1"/>
              <a:t>in the user history (input side)</a:t>
            </a:r>
            <a:r>
              <a:rPr lang="en-US" altLang="zh-CN"/>
              <a:t>: SIDs change what the models sees when it encodes user preferences</a:t>
            </a:r>
            <a:endParaRPr lang="en-US" altLang="zh-CN"/>
          </a:p>
          <a:p>
            <a:pPr lvl="1" indent="0" algn="l">
              <a:buNone/>
            </a:pPr>
            <a:r>
              <a:rPr lang="zh-CN" altLang="en-US"/>
              <a:t>- </a:t>
            </a:r>
            <a:r>
              <a:rPr lang="en-US" altLang="zh-CN" b="1"/>
              <a:t>for candidate scoring (output/scoring side)</a:t>
            </a:r>
            <a:r>
              <a:rPr lang="en-US" altLang="zh-CN"/>
              <a:t>: SIDs change how items are told apart and how training signal spreads accross them</a:t>
            </a:r>
            <a:endParaRPr lang="zh-CN" altLang="en-US"/>
          </a:p>
        </p:txBody>
      </p:sp>
      <p:sp>
        <p:nvSpPr>
          <p:cNvPr id="20" name="Shape 1"/>
          <p:cNvSpPr/>
          <p:nvPr/>
        </p:nvSpPr>
        <p:spPr>
          <a:xfrm>
            <a:off x="838267" y="5970023"/>
            <a:ext cx="10635720" cy="733259"/>
          </a:xfrm>
          <a:prstGeom prst="roundRect">
            <a:avLst>
              <a:gd name="adj" fmla="val 3619"/>
            </a:avLst>
          </a:prstGeom>
          <a:solidFill>
            <a:srgbClr val="FDFCF9"/>
          </a:solidFill>
          <a:ln w="6350">
            <a:solidFill>
              <a:srgbClr val="D9D4C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Reported improvements in overall performance cannot be attributed to SIDs alone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15974" y="1819473"/>
            <a:ext cx="4784725" cy="2541290"/>
          </a:xfrm>
          <a:prstGeom prst="roundRect">
            <a:avLst>
              <a:gd name="adj" fmla="val 2874"/>
            </a:avLst>
          </a:prstGeom>
          <a:solidFill>
            <a:srgbClr val="FDFCF9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7750" y="2051248"/>
            <a:ext cx="3701923" cy="22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160" b="1" kern="0" spc="100" dirty="0">
                <a:solidFill>
                  <a:srgbClr val="5A60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REPORTED</a:t>
            </a:r>
            <a:endParaRPr lang="en-US" sz="1160" dirty="0"/>
          </a:p>
        </p:txBody>
      </p:sp>
      <p:sp>
        <p:nvSpPr>
          <p:cNvPr id="6" name="Text 3"/>
          <p:cNvSpPr/>
          <p:nvPr/>
        </p:nvSpPr>
        <p:spPr>
          <a:xfrm>
            <a:off x="1047750" y="2353568"/>
            <a:ext cx="3701923" cy="6563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5"/>
              </a:lnSpc>
              <a:buNone/>
            </a:pPr>
            <a:r>
              <a:rPr lang="en-US" sz="2070" b="1" dirty="0">
                <a:solidFill>
                  <a:srgbClr val="1B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Atomic-ID model    SID model</a:t>
            </a:r>
            <a:endParaRPr lang="en-US" sz="2070" dirty="0"/>
          </a:p>
        </p:txBody>
      </p:sp>
      <p:sp>
        <p:nvSpPr>
          <p:cNvPr id="7" name="Text 4"/>
          <p:cNvSpPr/>
          <p:nvPr/>
        </p:nvSpPr>
        <p:spPr>
          <a:xfrm>
            <a:off x="1047750" y="3086100"/>
            <a:ext cx="3701923" cy="4984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75"/>
              </a:lnSpc>
              <a:buNone/>
            </a:pPr>
            <a:r>
              <a:rPr lang="en-US" sz="2800" b="1" dirty="0">
                <a:solidFill>
                  <a:srgbClr val="0F6B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+20%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47750" y="3660775"/>
            <a:ext cx="3701923" cy="4936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600" dirty="0">
                <a:solidFill>
                  <a:srgbClr val="1B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Recall@10. Our own reproduction: </a:t>
            </a:r>
            <a:r>
              <a:rPr lang="en-US" sz="1600" dirty="0" err="1">
                <a:solidFill>
                  <a:srgbClr val="1B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SASRec</a:t>
            </a:r>
            <a:r>
              <a:rPr lang="en-US" sz="1600" dirty="0">
                <a:solidFill>
                  <a:srgbClr val="1B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0.053       TIGER 0.065.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68999" y="1819473"/>
            <a:ext cx="5407025" cy="2541290"/>
          </a:xfrm>
          <a:prstGeom prst="roundRect">
            <a:avLst>
              <a:gd name="adj" fmla="val 2874"/>
            </a:avLst>
          </a:prstGeom>
          <a:solidFill>
            <a:srgbClr val="FDFCF9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16550" y="2051248"/>
            <a:ext cx="5899531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3A0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ACTUALLY CHANGED AT ONCE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1100" y="2366169"/>
            <a:ext cx="5054981" cy="154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 representation (IDs     codes)</a:t>
            </a:r>
            <a:endParaRPr lang="en-US" sz="1600" dirty="0"/>
          </a:p>
          <a:p>
            <a:pPr marL="243840" indent="-243840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 space (rank a table     generate codes)</a:t>
            </a:r>
            <a:endParaRPr lang="en-US" sz="1600" dirty="0"/>
          </a:p>
          <a:p>
            <a:pPr marL="243840" indent="-243840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Parameter count and where it sits</a:t>
            </a:r>
            <a:endParaRPr lang="en-US" sz="1600" dirty="0"/>
          </a:p>
          <a:p>
            <a:pPr marL="243840" indent="-243840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procedure and budget</a:t>
            </a:r>
            <a:endParaRPr lang="en-US" sz="1600" dirty="0"/>
          </a:p>
          <a:p>
            <a:pPr marL="243840" indent="-243840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History length that fits in the </a:t>
            </a:r>
            <a:r>
              <a:rPr lang="en-US" sz="1600" dirty="0">
                <a:solidFill>
                  <a:srgbClr val="1B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window</a:t>
            </a:r>
            <a:endParaRPr lang="en-US" sz="16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213100" y="2489200"/>
            <a:ext cx="177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501900" y="4004469"/>
            <a:ext cx="203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801100" y="2514600"/>
            <a:ext cx="190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953500" y="2819400"/>
            <a:ext cx="203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90675" y="5118100"/>
            <a:ext cx="7959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Any of the five changes could produce +20%. The comparison cannot tell you whether the codes did anything.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/>
          <p:cNvSpPr/>
          <p:nvPr/>
        </p:nvSpPr>
        <p:spPr>
          <a:xfrm>
            <a:off x="7086601" y="2380487"/>
            <a:ext cx="3352800" cy="2679189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579120" y="4635500"/>
            <a:ext cx="5593073" cy="1783080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SASRec</a:t>
            </a:r>
            <a:r>
              <a:rPr lang="en-US" sz="3200" dirty="0"/>
              <a:t> scores the next item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562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39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E[i] + P[pos]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 flipV="1">
            <a:off x="1325880" y="5260848"/>
            <a:ext cx="0" cy="301752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3258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103120" y="5562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4739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E[i] + P[pos]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 flipV="1">
            <a:off x="2697480" y="5260848"/>
            <a:ext cx="0" cy="301752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V="1">
            <a:off x="26974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474720" y="5562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739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E[i] + P[pos]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 flipV="1">
            <a:off x="4069080" y="5260848"/>
            <a:ext cx="0" cy="301752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40690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846320" y="5562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4739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E[i] + P[pos]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5440680" y="5260848"/>
            <a:ext cx="0" cy="301752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V="1">
            <a:off x="54406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" y="254508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6F4EF"/>
          </a:solidFill>
          <a:ln w="12700">
            <a:solidFill>
              <a:srgbClr val="8C877C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31520" y="26090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Transformer (2 blocks, causal attention) -&gt;  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2"/>
          <p:cNvSpPr txBox="1"/>
          <p:nvPr/>
        </p:nvSpPr>
        <p:spPr>
          <a:xfrm>
            <a:off x="731520" y="3080004"/>
            <a:ext cx="5303520" cy="1010412"/>
          </a:xfrm>
          <a:prstGeom prst="roundRect">
            <a:avLst>
              <a:gd name="adj" fmla="val 13333"/>
            </a:avLst>
          </a:prstGeom>
          <a:solidFill>
            <a:srgbClr val="E3E0D8"/>
          </a:solidFill>
          <a:ln w="15875">
            <a:solidFill>
              <a:srgbClr val="8C877C"/>
            </a:solidFill>
          </a:ln>
        </p:spPr>
        <p:txBody>
          <a:bodyPr wrap="square" lIns="50800" tIns="152400" rIns="1270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E3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self-attention + feed-forward blocks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4572000" y="17678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q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6"/>
          <p:cNvSpPr/>
          <p:nvPr/>
        </p:nvSpPr>
        <p:spPr>
          <a:xfrm flipV="1">
            <a:off x="5440680" y="2289048"/>
            <a:ext cx="0" cy="6858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7" name="Shape 28"/>
          <p:cNvSpPr/>
          <p:nvPr/>
        </p:nvSpPr>
        <p:spPr>
          <a:xfrm>
            <a:off x="6309360" y="2019300"/>
            <a:ext cx="100584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8" name="Text 29"/>
          <p:cNvSpPr txBox="1"/>
          <p:nvPr/>
        </p:nvSpPr>
        <p:spPr>
          <a:xfrm>
            <a:off x="6355080" y="2087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 · every row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30"/>
          <p:cNvSpPr txBox="1"/>
          <p:nvPr/>
        </p:nvSpPr>
        <p:spPr>
          <a:xfrm>
            <a:off x="7315200" y="1767840"/>
            <a:ext cx="364490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 E: one row per item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31"/>
          <p:cNvSpPr txBox="1"/>
          <p:nvPr/>
        </p:nvSpPr>
        <p:spPr>
          <a:xfrm>
            <a:off x="73152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2"/>
          <p:cNvSpPr txBox="1"/>
          <p:nvPr/>
        </p:nvSpPr>
        <p:spPr>
          <a:xfrm>
            <a:off x="8549640" y="23347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Embedding (64-d)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3"/>
          <p:cNvSpPr txBox="1"/>
          <p:nvPr/>
        </p:nvSpPr>
        <p:spPr>
          <a:xfrm>
            <a:off x="105156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33" name="Text 34"/>
          <p:cNvSpPr txBox="1"/>
          <p:nvPr/>
        </p:nvSpPr>
        <p:spPr>
          <a:xfrm>
            <a:off x="7315200" y="26365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5"/>
          <p:cNvSpPr txBox="1"/>
          <p:nvPr/>
        </p:nvSpPr>
        <p:spPr>
          <a:xfrm>
            <a:off x="8549640" y="26365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₁</a:t>
            </a:r>
            <a:endParaRPr lang="en-US" sz="1300" dirty="0"/>
          </a:p>
        </p:txBody>
      </p:sp>
      <p:sp>
        <p:nvSpPr>
          <p:cNvPr id="35" name="Text 36"/>
          <p:cNvSpPr txBox="1"/>
          <p:nvPr/>
        </p:nvSpPr>
        <p:spPr>
          <a:xfrm>
            <a:off x="10515600" y="263652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e₁</a:t>
            </a:r>
            <a:endParaRPr lang="en-US" sz="1300" dirty="0"/>
          </a:p>
        </p:txBody>
      </p:sp>
      <p:sp>
        <p:nvSpPr>
          <p:cNvPr id="36" name="Text 37"/>
          <p:cNvSpPr txBox="1"/>
          <p:nvPr/>
        </p:nvSpPr>
        <p:spPr>
          <a:xfrm>
            <a:off x="7315200" y="311200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8"/>
          <p:cNvSpPr txBox="1"/>
          <p:nvPr/>
        </p:nvSpPr>
        <p:spPr>
          <a:xfrm>
            <a:off x="8549640" y="311200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₂</a:t>
            </a:r>
            <a:endParaRPr lang="en-US" sz="1300" dirty="0"/>
          </a:p>
        </p:txBody>
      </p:sp>
      <p:sp>
        <p:nvSpPr>
          <p:cNvPr id="38" name="Text 39"/>
          <p:cNvSpPr txBox="1"/>
          <p:nvPr/>
        </p:nvSpPr>
        <p:spPr>
          <a:xfrm>
            <a:off x="10515600" y="3112008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e₂</a:t>
            </a:r>
            <a:endParaRPr lang="en-US" sz="1300" dirty="0"/>
          </a:p>
        </p:txBody>
      </p:sp>
      <p:sp>
        <p:nvSpPr>
          <p:cNvPr id="39" name="Text 40"/>
          <p:cNvSpPr txBox="1"/>
          <p:nvPr/>
        </p:nvSpPr>
        <p:spPr>
          <a:xfrm>
            <a:off x="7315200" y="358749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2A0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41"/>
          <p:cNvSpPr txBox="1"/>
          <p:nvPr/>
        </p:nvSpPr>
        <p:spPr>
          <a:xfrm>
            <a:off x="8549640" y="35874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2A0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₃</a:t>
            </a:r>
            <a:endParaRPr lang="en-US" sz="1300" dirty="0"/>
          </a:p>
        </p:txBody>
      </p:sp>
      <p:sp>
        <p:nvSpPr>
          <p:cNvPr id="41" name="Text 42"/>
          <p:cNvSpPr txBox="1"/>
          <p:nvPr/>
        </p:nvSpPr>
        <p:spPr>
          <a:xfrm>
            <a:off x="10515600" y="358749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e₃  highest</a:t>
            </a:r>
            <a:endParaRPr lang="en-US" sz="1300" dirty="0"/>
          </a:p>
        </p:txBody>
      </p:sp>
      <p:sp>
        <p:nvSpPr>
          <p:cNvPr id="42" name="Text 43"/>
          <p:cNvSpPr txBox="1"/>
          <p:nvPr/>
        </p:nvSpPr>
        <p:spPr>
          <a:xfrm>
            <a:off x="7315200" y="4062984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800" dirty="0"/>
          </a:p>
        </p:txBody>
      </p:sp>
      <p:sp>
        <p:nvSpPr>
          <p:cNvPr id="43" name="Text 44"/>
          <p:cNvSpPr txBox="1"/>
          <p:nvPr/>
        </p:nvSpPr>
        <p:spPr>
          <a:xfrm>
            <a:off x="7315200" y="4538472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V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5"/>
          <p:cNvSpPr txBox="1"/>
          <p:nvPr/>
        </p:nvSpPr>
        <p:spPr>
          <a:xfrm>
            <a:off x="8549640" y="453847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_V</a:t>
            </a:r>
            <a:endParaRPr lang="en-US" sz="1300" dirty="0"/>
          </a:p>
        </p:txBody>
      </p:sp>
      <p:sp>
        <p:nvSpPr>
          <p:cNvPr id="45" name="Text 46"/>
          <p:cNvSpPr txBox="1"/>
          <p:nvPr/>
        </p:nvSpPr>
        <p:spPr>
          <a:xfrm>
            <a:off x="10515600" y="45384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e_V</a:t>
            </a:r>
            <a:endParaRPr lang="en-US" sz="1300" dirty="0"/>
          </a:p>
        </p:txBody>
      </p:sp>
      <p:sp>
        <p:nvSpPr>
          <p:cNvPr id="46" name="Shape 47"/>
          <p:cNvSpPr/>
          <p:nvPr/>
        </p:nvSpPr>
        <p:spPr>
          <a:xfrm>
            <a:off x="9464040" y="5059680"/>
            <a:ext cx="0" cy="2286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47" name="Text 48"/>
          <p:cNvSpPr txBox="1"/>
          <p:nvPr/>
        </p:nvSpPr>
        <p:spPr>
          <a:xfrm>
            <a:off x="7315200" y="5306568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all items → top-10 list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cross-entropy on the true next item</a:t>
            </a:r>
            <a:endParaRPr lang="en-US" sz="1300" dirty="0"/>
          </a:p>
        </p:txBody>
      </p:sp>
      <p:sp>
        <p:nvSpPr>
          <p:cNvPr id="49" name="Text 20"/>
          <p:cNvSpPr txBox="1"/>
          <p:nvPr/>
        </p:nvSpPr>
        <p:spPr>
          <a:xfrm>
            <a:off x="731520" y="607949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Input (user history)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20"/>
          <p:cNvSpPr txBox="1"/>
          <p:nvPr/>
        </p:nvSpPr>
        <p:spPr>
          <a:xfrm>
            <a:off x="6842761" y="408457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/>
          <p:cNvSpPr/>
          <p:nvPr/>
        </p:nvSpPr>
        <p:spPr>
          <a:xfrm>
            <a:off x="7086601" y="2380487"/>
            <a:ext cx="3352800" cy="2679189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541017" y="4547616"/>
            <a:ext cx="5593073" cy="2221484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SASRec</a:t>
            </a:r>
            <a:r>
              <a:rPr lang="en-US" sz="3200" dirty="0"/>
              <a:t> scores the next item (SID on input)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26433" y="601014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655339" y="4753102"/>
                <a:ext cx="1310629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39" y="4753102"/>
                <a:ext cx="1310629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1"/>
                <a:stretch>
                  <a:fillRect l="-631" t="-1667" r="-581" b="-1490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 flipV="1">
            <a:off x="1325880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3258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098032" y="60198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7"/>
              <p:cNvSpPr txBox="1"/>
              <p:nvPr/>
            </p:nvSpPr>
            <p:spPr>
              <a:xfrm>
                <a:off x="2011673" y="4739640"/>
                <a:ext cx="1325881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73" y="4739640"/>
                <a:ext cx="1325881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2"/>
                <a:stretch>
                  <a:fillRect l="-622" t="-1641" r="-575" b="-1515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9"/>
          <p:cNvSpPr/>
          <p:nvPr/>
        </p:nvSpPr>
        <p:spPr>
          <a:xfrm flipV="1">
            <a:off x="26974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474720" y="603275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1"/>
              <p:cNvSpPr txBox="1"/>
              <p:nvPr/>
            </p:nvSpPr>
            <p:spPr>
              <a:xfrm>
                <a:off x="3398523" y="4739640"/>
                <a:ext cx="1341119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23" y="4739640"/>
                <a:ext cx="1341119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3"/>
                <a:stretch>
                  <a:fillRect l="-616" t="-1641" r="-568" b="-1515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3"/>
          <p:cNvSpPr/>
          <p:nvPr/>
        </p:nvSpPr>
        <p:spPr>
          <a:xfrm flipV="1">
            <a:off x="40690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841229" y="6035852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5"/>
              <p:cNvSpPr txBox="1"/>
              <p:nvPr/>
            </p:nvSpPr>
            <p:spPr>
              <a:xfrm>
                <a:off x="4800603" y="4739640"/>
                <a:ext cx="1310638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ex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3" y="4739640"/>
                <a:ext cx="1310638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4"/>
                <a:stretch>
                  <a:fillRect l="-630" t="-1641" r="-581" b="-1515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7"/>
          <p:cNvSpPr/>
          <p:nvPr/>
        </p:nvSpPr>
        <p:spPr>
          <a:xfrm flipV="1">
            <a:off x="54406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" y="254508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6F4EF"/>
          </a:solidFill>
          <a:ln w="12700">
            <a:solidFill>
              <a:srgbClr val="8C877C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31520" y="26090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Transformer (2 blocks, causal attention) -&gt;  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2"/>
          <p:cNvSpPr txBox="1"/>
          <p:nvPr/>
        </p:nvSpPr>
        <p:spPr>
          <a:xfrm>
            <a:off x="731520" y="3080004"/>
            <a:ext cx="5303520" cy="1010412"/>
          </a:xfrm>
          <a:prstGeom prst="roundRect">
            <a:avLst>
              <a:gd name="adj" fmla="val 13333"/>
            </a:avLst>
          </a:prstGeom>
          <a:solidFill>
            <a:srgbClr val="E3E0D8"/>
          </a:solidFill>
          <a:ln w="15875">
            <a:solidFill>
              <a:srgbClr val="8C877C"/>
            </a:solidFill>
          </a:ln>
        </p:spPr>
        <p:txBody>
          <a:bodyPr wrap="square" lIns="50800" tIns="152400" rIns="1270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E3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self-attention + feed-forward blocks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4709160" y="3253740"/>
            <a:ext cx="1234440" cy="667512"/>
          </a:xfrm>
          <a:prstGeom prst="roundRect">
            <a:avLst>
              <a:gd name="adj" fmla="val 18182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 (r = 4)</a:t>
            </a:r>
            <a:endParaRPr lang="en-US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4572000" y="17678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q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6"/>
          <p:cNvSpPr/>
          <p:nvPr/>
        </p:nvSpPr>
        <p:spPr>
          <a:xfrm flipV="1">
            <a:off x="5440680" y="2289048"/>
            <a:ext cx="0" cy="6858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7" name="Shape 28"/>
          <p:cNvSpPr/>
          <p:nvPr/>
        </p:nvSpPr>
        <p:spPr>
          <a:xfrm>
            <a:off x="6309360" y="2019300"/>
            <a:ext cx="100584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8" name="Text 29"/>
          <p:cNvSpPr txBox="1"/>
          <p:nvPr/>
        </p:nvSpPr>
        <p:spPr>
          <a:xfrm>
            <a:off x="6355080" y="2087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 · every row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30"/>
          <p:cNvSpPr txBox="1"/>
          <p:nvPr/>
        </p:nvSpPr>
        <p:spPr>
          <a:xfrm>
            <a:off x="7315200" y="1767840"/>
            <a:ext cx="364490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 E: one row per item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31"/>
          <p:cNvSpPr txBox="1"/>
          <p:nvPr/>
        </p:nvSpPr>
        <p:spPr>
          <a:xfrm>
            <a:off x="73152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2"/>
          <p:cNvSpPr txBox="1"/>
          <p:nvPr/>
        </p:nvSpPr>
        <p:spPr>
          <a:xfrm>
            <a:off x="8549640" y="23347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Embedding (64-d)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3"/>
          <p:cNvSpPr txBox="1"/>
          <p:nvPr/>
        </p:nvSpPr>
        <p:spPr>
          <a:xfrm>
            <a:off x="105156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33" name="Text 34"/>
          <p:cNvSpPr txBox="1"/>
          <p:nvPr/>
        </p:nvSpPr>
        <p:spPr>
          <a:xfrm>
            <a:off x="7315200" y="26365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5"/>
          <p:cNvSpPr txBox="1"/>
          <p:nvPr/>
        </p:nvSpPr>
        <p:spPr>
          <a:xfrm>
            <a:off x="8549640" y="26365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₁</a:t>
            </a:r>
            <a:endParaRPr lang="en-US" sz="1300" dirty="0"/>
          </a:p>
        </p:txBody>
      </p:sp>
      <p:sp>
        <p:nvSpPr>
          <p:cNvPr id="35" name="Text 36"/>
          <p:cNvSpPr txBox="1"/>
          <p:nvPr/>
        </p:nvSpPr>
        <p:spPr>
          <a:xfrm>
            <a:off x="10515600" y="263652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e₁</a:t>
            </a:r>
            <a:endParaRPr lang="en-US" sz="1300" dirty="0"/>
          </a:p>
        </p:txBody>
      </p:sp>
      <p:sp>
        <p:nvSpPr>
          <p:cNvPr id="36" name="Text 37"/>
          <p:cNvSpPr txBox="1"/>
          <p:nvPr/>
        </p:nvSpPr>
        <p:spPr>
          <a:xfrm>
            <a:off x="7315200" y="311200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8"/>
          <p:cNvSpPr txBox="1"/>
          <p:nvPr/>
        </p:nvSpPr>
        <p:spPr>
          <a:xfrm>
            <a:off x="8549640" y="311200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₂</a:t>
            </a:r>
            <a:endParaRPr lang="en-US" sz="1300" dirty="0"/>
          </a:p>
        </p:txBody>
      </p:sp>
      <p:sp>
        <p:nvSpPr>
          <p:cNvPr id="38" name="Text 39"/>
          <p:cNvSpPr txBox="1"/>
          <p:nvPr/>
        </p:nvSpPr>
        <p:spPr>
          <a:xfrm>
            <a:off x="10515600" y="3112008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e₂</a:t>
            </a:r>
            <a:endParaRPr lang="en-US" sz="1300" dirty="0"/>
          </a:p>
        </p:txBody>
      </p:sp>
      <p:sp>
        <p:nvSpPr>
          <p:cNvPr id="39" name="Text 40"/>
          <p:cNvSpPr txBox="1"/>
          <p:nvPr/>
        </p:nvSpPr>
        <p:spPr>
          <a:xfrm>
            <a:off x="7315200" y="358749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2A0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41"/>
          <p:cNvSpPr txBox="1"/>
          <p:nvPr/>
        </p:nvSpPr>
        <p:spPr>
          <a:xfrm>
            <a:off x="8549640" y="35874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2A0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₃</a:t>
            </a:r>
            <a:endParaRPr lang="en-US" sz="1300" dirty="0"/>
          </a:p>
        </p:txBody>
      </p:sp>
      <p:sp>
        <p:nvSpPr>
          <p:cNvPr id="41" name="Text 42"/>
          <p:cNvSpPr txBox="1"/>
          <p:nvPr/>
        </p:nvSpPr>
        <p:spPr>
          <a:xfrm>
            <a:off x="10515600" y="358749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e₃  highest</a:t>
            </a:r>
            <a:endParaRPr lang="en-US" sz="1300" dirty="0"/>
          </a:p>
        </p:txBody>
      </p:sp>
      <p:sp>
        <p:nvSpPr>
          <p:cNvPr id="42" name="Text 43"/>
          <p:cNvSpPr txBox="1"/>
          <p:nvPr/>
        </p:nvSpPr>
        <p:spPr>
          <a:xfrm>
            <a:off x="7315200" y="4062984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800" dirty="0"/>
          </a:p>
        </p:txBody>
      </p:sp>
      <p:sp>
        <p:nvSpPr>
          <p:cNvPr id="43" name="Text 44"/>
          <p:cNvSpPr txBox="1"/>
          <p:nvPr/>
        </p:nvSpPr>
        <p:spPr>
          <a:xfrm>
            <a:off x="7315200" y="4538472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V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5"/>
          <p:cNvSpPr txBox="1"/>
          <p:nvPr/>
        </p:nvSpPr>
        <p:spPr>
          <a:xfrm>
            <a:off x="8549640" y="453847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_V</a:t>
            </a:r>
            <a:endParaRPr lang="en-US" sz="1300" dirty="0"/>
          </a:p>
        </p:txBody>
      </p:sp>
      <p:sp>
        <p:nvSpPr>
          <p:cNvPr id="45" name="Text 46"/>
          <p:cNvSpPr txBox="1"/>
          <p:nvPr/>
        </p:nvSpPr>
        <p:spPr>
          <a:xfrm>
            <a:off x="10515600" y="45384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e_V</a:t>
            </a:r>
            <a:endParaRPr lang="en-US" sz="1300" dirty="0"/>
          </a:p>
        </p:txBody>
      </p:sp>
      <p:sp>
        <p:nvSpPr>
          <p:cNvPr id="46" name="Shape 47"/>
          <p:cNvSpPr/>
          <p:nvPr/>
        </p:nvSpPr>
        <p:spPr>
          <a:xfrm>
            <a:off x="9464040" y="5059680"/>
            <a:ext cx="0" cy="2286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47" name="Text 48"/>
          <p:cNvSpPr txBox="1"/>
          <p:nvPr/>
        </p:nvSpPr>
        <p:spPr>
          <a:xfrm>
            <a:off x="7315200" y="5306568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all items → top-10 list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cross-entropy on the true next item</a:t>
            </a:r>
            <a:endParaRPr lang="en-US" sz="1300" dirty="0"/>
          </a:p>
        </p:txBody>
      </p:sp>
      <p:sp>
        <p:nvSpPr>
          <p:cNvPr id="49" name="Text 20"/>
          <p:cNvSpPr txBox="1"/>
          <p:nvPr/>
        </p:nvSpPr>
        <p:spPr>
          <a:xfrm>
            <a:off x="731520" y="646734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Input (user history)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20"/>
          <p:cNvSpPr txBox="1"/>
          <p:nvPr/>
        </p:nvSpPr>
        <p:spPr>
          <a:xfrm>
            <a:off x="6842761" y="408457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4"/>
          <p:cNvSpPr/>
          <p:nvPr/>
        </p:nvSpPr>
        <p:spPr>
          <a:xfrm flipV="1">
            <a:off x="2692392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52" name="Shape 4"/>
          <p:cNvSpPr/>
          <p:nvPr/>
        </p:nvSpPr>
        <p:spPr>
          <a:xfrm flipV="1">
            <a:off x="4074160" y="5242560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53" name="Shape 4"/>
          <p:cNvSpPr/>
          <p:nvPr/>
        </p:nvSpPr>
        <p:spPr>
          <a:xfrm flipV="1">
            <a:off x="5461002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: Rounded Corners 53"/>
              <p:cNvSpPr/>
              <p:nvPr/>
            </p:nvSpPr>
            <p:spPr>
              <a:xfrm>
                <a:off x="655339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4" name="Rectangle: Rounded Corners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39" y="5631005"/>
                <a:ext cx="271761" cy="205994"/>
              </a:xfrm>
              <a:prstGeom prst="roundRect">
                <a:avLst/>
              </a:prstGeom>
              <a:blipFill rotWithShape="1">
                <a:blip r:embed="rId5"/>
                <a:stretch>
                  <a:fillRect l="-3512" t="-4847" r="-373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: Rounded Corners 55"/>
              <p:cNvSpPr/>
              <p:nvPr/>
            </p:nvSpPr>
            <p:spPr>
              <a:xfrm>
                <a:off x="1003338" y="5621607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6" name="Rectangle: Rounded Corners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38" y="5621607"/>
                <a:ext cx="271761" cy="205994"/>
              </a:xfrm>
              <a:prstGeom prst="roundRect">
                <a:avLst/>
              </a:prstGeom>
              <a:blipFill rotWithShape="1">
                <a:blip r:embed="rId6"/>
                <a:stretch>
                  <a:fillRect l="-3519" t="-4909" r="-3732" b="-452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: Rounded Corners 56"/>
              <p:cNvSpPr/>
              <p:nvPr/>
            </p:nvSpPr>
            <p:spPr>
              <a:xfrm>
                <a:off x="1338618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7" name="Rectangle: Rounded Corners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618" y="5631005"/>
                <a:ext cx="271761" cy="205994"/>
              </a:xfrm>
              <a:prstGeom prst="roundRect">
                <a:avLst/>
              </a:prstGeom>
              <a:blipFill rotWithShape="1">
                <a:blip r:embed="rId7"/>
                <a:stretch>
                  <a:fillRect l="-3519" t="-4847" r="-3732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: Rounded Corners 57"/>
              <p:cNvSpPr/>
              <p:nvPr/>
            </p:nvSpPr>
            <p:spPr>
              <a:xfrm>
                <a:off x="1670094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8" name="Rectangle: Rounded Corners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094" y="5631005"/>
                <a:ext cx="271761" cy="205994"/>
              </a:xfrm>
              <a:prstGeom prst="roundRect">
                <a:avLst/>
              </a:prstGeom>
              <a:blipFill rotWithShape="1">
                <a:blip r:embed="rId8"/>
                <a:stretch>
                  <a:fillRect l="-3521" t="-4847" r="-372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Rectangle: Rounded Corners 66"/>
              <p:cNvSpPr/>
              <p:nvPr/>
            </p:nvSpPr>
            <p:spPr>
              <a:xfrm>
                <a:off x="2031997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7" name="Rectangle: Rounded Corners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7" y="5631699"/>
                <a:ext cx="271761" cy="205994"/>
              </a:xfrm>
              <a:prstGeom prst="roundRect">
                <a:avLst/>
              </a:prstGeom>
              <a:blipFill rotWithShape="1">
                <a:blip r:embed="rId9"/>
                <a:stretch>
                  <a:fillRect l="-3737" t="-4876" r="-3747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ectangle: Rounded Corners 67"/>
              <p:cNvSpPr/>
              <p:nvPr/>
            </p:nvSpPr>
            <p:spPr>
              <a:xfrm>
                <a:off x="2379996" y="562230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8" name="Rectangle: Rounded Corners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996" y="5622301"/>
                <a:ext cx="271761" cy="205994"/>
              </a:xfrm>
              <a:prstGeom prst="roundRect">
                <a:avLst/>
              </a:prstGeom>
              <a:blipFill rotWithShape="1">
                <a:blip r:embed="rId10"/>
                <a:stretch>
                  <a:fillRect l="-3511" t="-4629" r="-3740" b="-4495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Rectangle: Rounded Corners 68"/>
              <p:cNvSpPr/>
              <p:nvPr/>
            </p:nvSpPr>
            <p:spPr>
              <a:xfrm>
                <a:off x="2715276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9" name="Rectangle: Rounded Corners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276" y="5631699"/>
                <a:ext cx="271761" cy="205994"/>
              </a:xfrm>
              <a:prstGeom prst="roundRect">
                <a:avLst/>
              </a:prstGeom>
              <a:blipFill rotWithShape="1">
                <a:blip r:embed="rId11"/>
                <a:stretch>
                  <a:fillRect l="-3511" t="-4876" r="-3740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: Rounded Corners 69"/>
              <p:cNvSpPr/>
              <p:nvPr/>
            </p:nvSpPr>
            <p:spPr>
              <a:xfrm>
                <a:off x="3046752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0" name="Rectangle: Rounded Corners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752" y="5631699"/>
                <a:ext cx="271761" cy="205994"/>
              </a:xfrm>
              <a:prstGeom prst="roundRect">
                <a:avLst/>
              </a:prstGeom>
              <a:blipFill rotWithShape="1">
                <a:blip r:embed="rId12"/>
                <a:stretch>
                  <a:fillRect l="-3513" t="-4876" r="-3737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/>
              <p:cNvSpPr/>
              <p:nvPr/>
            </p:nvSpPr>
            <p:spPr>
              <a:xfrm>
                <a:off x="3402324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1" name="Rectangle: Rounded Corners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324" y="5631005"/>
                <a:ext cx="271761" cy="205994"/>
              </a:xfrm>
              <a:prstGeom prst="roundRect">
                <a:avLst/>
              </a:prstGeom>
              <a:blipFill rotWithShape="1">
                <a:blip r:embed="rId13"/>
                <a:stretch>
                  <a:fillRect l="-3736" t="-4847" r="-3748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: Rounded Corners 71"/>
              <p:cNvSpPr/>
              <p:nvPr/>
            </p:nvSpPr>
            <p:spPr>
              <a:xfrm>
                <a:off x="3750323" y="5621607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2" name="Rectangle: Rounded Corners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323" y="5621607"/>
                <a:ext cx="271761" cy="205994"/>
              </a:xfrm>
              <a:prstGeom prst="roundRect">
                <a:avLst/>
              </a:prstGeom>
              <a:blipFill rotWithShape="1">
                <a:blip r:embed="rId14"/>
                <a:stretch>
                  <a:fillRect l="-3510" t="-4909" r="-3741" b="-452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: Rounded Corners 72"/>
              <p:cNvSpPr/>
              <p:nvPr/>
            </p:nvSpPr>
            <p:spPr>
              <a:xfrm>
                <a:off x="4085603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3" name="Rectangle: Rounded Corners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603" y="5631005"/>
                <a:ext cx="271761" cy="205994"/>
              </a:xfrm>
              <a:prstGeom prst="roundRect">
                <a:avLst/>
              </a:prstGeom>
              <a:blipFill rotWithShape="1">
                <a:blip r:embed="rId15"/>
                <a:stretch>
                  <a:fillRect l="-3510" t="-4847" r="-3741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Rectangle: Rounded Corners 73"/>
              <p:cNvSpPr/>
              <p:nvPr/>
            </p:nvSpPr>
            <p:spPr>
              <a:xfrm>
                <a:off x="4417079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4" name="Rectangle: Rounded Corners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079" y="5631005"/>
                <a:ext cx="271761" cy="205994"/>
              </a:xfrm>
              <a:prstGeom prst="roundRect">
                <a:avLst/>
              </a:prstGeom>
              <a:blipFill rotWithShape="1">
                <a:blip r:embed="rId16"/>
                <a:stretch>
                  <a:fillRect l="-3512" t="-4847" r="-373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Rectangle: Rounded Corners 74"/>
              <p:cNvSpPr/>
              <p:nvPr/>
            </p:nvSpPr>
            <p:spPr>
              <a:xfrm>
                <a:off x="4794237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5" name="Rectangle: Rounded Corners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37" y="5618559"/>
                <a:ext cx="271761" cy="205994"/>
              </a:xfrm>
              <a:prstGeom prst="roundRect">
                <a:avLst/>
              </a:prstGeom>
              <a:blipFill rotWithShape="1">
                <a:blip r:embed="rId17"/>
                <a:stretch>
                  <a:fillRect l="-3734" t="-4662" r="-3750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: Rounded Corners 75"/>
              <p:cNvSpPr/>
              <p:nvPr/>
            </p:nvSpPr>
            <p:spPr>
              <a:xfrm>
                <a:off x="5142236" y="560916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6" name="Rectangle: Rounded Corners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236" y="5609161"/>
                <a:ext cx="271761" cy="205994"/>
              </a:xfrm>
              <a:prstGeom prst="roundRect">
                <a:avLst/>
              </a:prstGeom>
              <a:blipFill rotWithShape="1">
                <a:blip r:embed="rId18"/>
                <a:stretch>
                  <a:fillRect l="-3507" t="-4724" r="-3743" b="-4401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Rectangle: Rounded Corners 76"/>
              <p:cNvSpPr/>
              <p:nvPr/>
            </p:nvSpPr>
            <p:spPr>
              <a:xfrm>
                <a:off x="5477516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7" name="Rectangle: Rounded Corners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16" y="5618559"/>
                <a:ext cx="271761" cy="205994"/>
              </a:xfrm>
              <a:prstGeom prst="roundRect">
                <a:avLst/>
              </a:prstGeom>
              <a:blipFill rotWithShape="1">
                <a:blip r:embed="rId19"/>
                <a:stretch>
                  <a:fillRect l="-3507" t="-4662" r="-3743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Rectangle: Rounded Corners 77"/>
              <p:cNvSpPr/>
              <p:nvPr/>
            </p:nvSpPr>
            <p:spPr>
              <a:xfrm>
                <a:off x="5808992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8" name="Rectangle: Rounded Corners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992" y="5618559"/>
                <a:ext cx="271761" cy="205994"/>
              </a:xfrm>
              <a:prstGeom prst="roundRect">
                <a:avLst/>
              </a:prstGeom>
              <a:blipFill rotWithShape="1">
                <a:blip r:embed="rId20"/>
                <a:stretch>
                  <a:fillRect l="-3509" t="-4662" r="-3741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/>
          <p:cNvSpPr txBox="1"/>
          <p:nvPr/>
        </p:nvSpPr>
        <p:spPr>
          <a:xfrm>
            <a:off x="7086601" y="6230280"/>
            <a:ext cx="4993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Subsequent models can only win by understanding user history better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/>
          <p:cNvSpPr/>
          <p:nvPr/>
        </p:nvSpPr>
        <p:spPr>
          <a:xfrm>
            <a:off x="7086601" y="2380487"/>
            <a:ext cx="3352800" cy="2679189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579127" y="4601416"/>
            <a:ext cx="5593073" cy="2221484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SASRec</a:t>
            </a:r>
            <a:r>
              <a:rPr lang="en-US" sz="3200" dirty="0"/>
              <a:t> scores the next item (SID on input)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26433" y="601014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661550" y="4747441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50" y="4747441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1"/>
                <a:stretch>
                  <a:fillRect l="-2993" t="-1677" r="-8698" b="-1479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 flipV="1">
            <a:off x="1325880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3258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098032" y="60198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 flipV="1">
            <a:off x="26974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474720" y="603275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flipV="1">
            <a:off x="40690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841229" y="6035852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 flipV="1">
            <a:off x="54406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" y="254508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6F4EF"/>
          </a:solidFill>
          <a:ln w="12700">
            <a:solidFill>
              <a:srgbClr val="8C877C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31520" y="26090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Transformer (2 blocks, causal attention) -&gt;  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2"/>
          <p:cNvSpPr txBox="1"/>
          <p:nvPr/>
        </p:nvSpPr>
        <p:spPr>
          <a:xfrm>
            <a:off x="731520" y="3080004"/>
            <a:ext cx="5303520" cy="1010412"/>
          </a:xfrm>
          <a:prstGeom prst="roundRect">
            <a:avLst>
              <a:gd name="adj" fmla="val 13333"/>
            </a:avLst>
          </a:prstGeom>
          <a:solidFill>
            <a:srgbClr val="E3E0D8"/>
          </a:solidFill>
          <a:ln w="15875">
            <a:solidFill>
              <a:srgbClr val="8C877C"/>
            </a:solidFill>
          </a:ln>
        </p:spPr>
        <p:txBody>
          <a:bodyPr wrap="square" lIns="50800" tIns="152400" rIns="1270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E3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self-attention + feed-forward blocks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4709160" y="3253740"/>
            <a:ext cx="1234440" cy="667512"/>
          </a:xfrm>
          <a:prstGeom prst="roundRect">
            <a:avLst>
              <a:gd name="adj" fmla="val 18182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 (r = 4)</a:t>
            </a:r>
            <a:endParaRPr lang="en-US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4572000" y="17678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q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6"/>
          <p:cNvSpPr/>
          <p:nvPr/>
        </p:nvSpPr>
        <p:spPr>
          <a:xfrm flipV="1">
            <a:off x="5440680" y="2289048"/>
            <a:ext cx="0" cy="6858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7" name="Shape 28"/>
          <p:cNvSpPr/>
          <p:nvPr/>
        </p:nvSpPr>
        <p:spPr>
          <a:xfrm>
            <a:off x="6309360" y="2019300"/>
            <a:ext cx="100584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8" name="Text 29"/>
          <p:cNvSpPr txBox="1"/>
          <p:nvPr/>
        </p:nvSpPr>
        <p:spPr>
          <a:xfrm>
            <a:off x="6355080" y="2087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 · every row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30"/>
          <p:cNvSpPr txBox="1"/>
          <p:nvPr/>
        </p:nvSpPr>
        <p:spPr>
          <a:xfrm>
            <a:off x="7315200" y="1767840"/>
            <a:ext cx="364490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 E: one row per item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31"/>
          <p:cNvSpPr txBox="1"/>
          <p:nvPr/>
        </p:nvSpPr>
        <p:spPr>
          <a:xfrm>
            <a:off x="73152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2"/>
          <p:cNvSpPr txBox="1"/>
          <p:nvPr/>
        </p:nvSpPr>
        <p:spPr>
          <a:xfrm>
            <a:off x="8549640" y="23347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Embedding (64-d)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3"/>
          <p:cNvSpPr txBox="1"/>
          <p:nvPr/>
        </p:nvSpPr>
        <p:spPr>
          <a:xfrm>
            <a:off x="105156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33" name="Text 34"/>
          <p:cNvSpPr txBox="1"/>
          <p:nvPr/>
        </p:nvSpPr>
        <p:spPr>
          <a:xfrm>
            <a:off x="7315200" y="26365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5"/>
          <p:cNvSpPr txBox="1"/>
          <p:nvPr/>
        </p:nvSpPr>
        <p:spPr>
          <a:xfrm>
            <a:off x="8549640" y="26365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₁</a:t>
            </a:r>
            <a:endParaRPr lang="en-US" sz="1300" dirty="0"/>
          </a:p>
        </p:txBody>
      </p:sp>
      <p:sp>
        <p:nvSpPr>
          <p:cNvPr id="35" name="Text 36"/>
          <p:cNvSpPr txBox="1"/>
          <p:nvPr/>
        </p:nvSpPr>
        <p:spPr>
          <a:xfrm>
            <a:off x="10515600" y="263652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e₁</a:t>
            </a:r>
            <a:endParaRPr lang="en-US" sz="1300" dirty="0"/>
          </a:p>
        </p:txBody>
      </p:sp>
      <p:sp>
        <p:nvSpPr>
          <p:cNvPr id="36" name="Text 37"/>
          <p:cNvSpPr txBox="1"/>
          <p:nvPr/>
        </p:nvSpPr>
        <p:spPr>
          <a:xfrm>
            <a:off x="7315200" y="311200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8"/>
          <p:cNvSpPr txBox="1"/>
          <p:nvPr/>
        </p:nvSpPr>
        <p:spPr>
          <a:xfrm>
            <a:off x="8549640" y="311200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₂</a:t>
            </a:r>
            <a:endParaRPr lang="en-US" sz="1300" dirty="0"/>
          </a:p>
        </p:txBody>
      </p:sp>
      <p:sp>
        <p:nvSpPr>
          <p:cNvPr id="38" name="Text 39"/>
          <p:cNvSpPr txBox="1"/>
          <p:nvPr/>
        </p:nvSpPr>
        <p:spPr>
          <a:xfrm>
            <a:off x="10515600" y="3112008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e₂</a:t>
            </a:r>
            <a:endParaRPr lang="en-US" sz="1300" dirty="0"/>
          </a:p>
        </p:txBody>
      </p:sp>
      <p:sp>
        <p:nvSpPr>
          <p:cNvPr id="39" name="Text 40"/>
          <p:cNvSpPr txBox="1"/>
          <p:nvPr/>
        </p:nvSpPr>
        <p:spPr>
          <a:xfrm>
            <a:off x="7315200" y="358749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2A0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41"/>
          <p:cNvSpPr txBox="1"/>
          <p:nvPr/>
        </p:nvSpPr>
        <p:spPr>
          <a:xfrm>
            <a:off x="8549640" y="35874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2A0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₃</a:t>
            </a:r>
            <a:endParaRPr lang="en-US" sz="1300" dirty="0"/>
          </a:p>
        </p:txBody>
      </p:sp>
      <p:sp>
        <p:nvSpPr>
          <p:cNvPr id="41" name="Text 42"/>
          <p:cNvSpPr txBox="1"/>
          <p:nvPr/>
        </p:nvSpPr>
        <p:spPr>
          <a:xfrm>
            <a:off x="10515600" y="358749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e₃  highest</a:t>
            </a:r>
            <a:endParaRPr lang="en-US" sz="1300" dirty="0"/>
          </a:p>
        </p:txBody>
      </p:sp>
      <p:sp>
        <p:nvSpPr>
          <p:cNvPr id="42" name="Text 43"/>
          <p:cNvSpPr txBox="1"/>
          <p:nvPr/>
        </p:nvSpPr>
        <p:spPr>
          <a:xfrm>
            <a:off x="7315200" y="4062984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800" dirty="0"/>
          </a:p>
        </p:txBody>
      </p:sp>
      <p:sp>
        <p:nvSpPr>
          <p:cNvPr id="43" name="Text 44"/>
          <p:cNvSpPr txBox="1"/>
          <p:nvPr/>
        </p:nvSpPr>
        <p:spPr>
          <a:xfrm>
            <a:off x="7315200" y="4538472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V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5"/>
          <p:cNvSpPr txBox="1"/>
          <p:nvPr/>
        </p:nvSpPr>
        <p:spPr>
          <a:xfrm>
            <a:off x="8549640" y="453847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0D8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_V</a:t>
            </a:r>
            <a:endParaRPr lang="en-US" sz="1300" dirty="0"/>
          </a:p>
        </p:txBody>
      </p:sp>
      <p:sp>
        <p:nvSpPr>
          <p:cNvPr id="45" name="Text 46"/>
          <p:cNvSpPr txBox="1"/>
          <p:nvPr/>
        </p:nvSpPr>
        <p:spPr>
          <a:xfrm>
            <a:off x="10515600" y="45384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e_V</a:t>
            </a:r>
            <a:endParaRPr lang="en-US" sz="1300" dirty="0"/>
          </a:p>
        </p:txBody>
      </p:sp>
      <p:sp>
        <p:nvSpPr>
          <p:cNvPr id="46" name="Shape 47"/>
          <p:cNvSpPr/>
          <p:nvPr/>
        </p:nvSpPr>
        <p:spPr>
          <a:xfrm>
            <a:off x="9464040" y="5059680"/>
            <a:ext cx="0" cy="2286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47" name="Text 48"/>
          <p:cNvSpPr txBox="1"/>
          <p:nvPr/>
        </p:nvSpPr>
        <p:spPr>
          <a:xfrm>
            <a:off x="7315200" y="5306568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all items → top-10 list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cross-entropy on the true next item</a:t>
            </a:r>
            <a:endParaRPr lang="en-US" sz="1300" dirty="0"/>
          </a:p>
        </p:txBody>
      </p:sp>
      <p:sp>
        <p:nvSpPr>
          <p:cNvPr id="49" name="Text 20"/>
          <p:cNvSpPr txBox="1"/>
          <p:nvPr/>
        </p:nvSpPr>
        <p:spPr>
          <a:xfrm>
            <a:off x="731520" y="646734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Input (user history)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20"/>
          <p:cNvSpPr txBox="1"/>
          <p:nvPr/>
        </p:nvSpPr>
        <p:spPr>
          <a:xfrm>
            <a:off x="6842761" y="408457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4"/>
          <p:cNvSpPr/>
          <p:nvPr/>
        </p:nvSpPr>
        <p:spPr>
          <a:xfrm flipV="1">
            <a:off x="2692392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52" name="Shape 4"/>
          <p:cNvSpPr/>
          <p:nvPr/>
        </p:nvSpPr>
        <p:spPr>
          <a:xfrm flipV="1">
            <a:off x="4074160" y="5242560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53" name="Shape 4"/>
          <p:cNvSpPr/>
          <p:nvPr/>
        </p:nvSpPr>
        <p:spPr>
          <a:xfrm flipV="1">
            <a:off x="5461002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: Rounded Corners 53"/>
              <p:cNvSpPr/>
              <p:nvPr/>
            </p:nvSpPr>
            <p:spPr>
              <a:xfrm>
                <a:off x="655339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4" name="Rectangle: Rounded Corners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39" y="5631005"/>
                <a:ext cx="271761" cy="205994"/>
              </a:xfrm>
              <a:prstGeom prst="roundRect">
                <a:avLst/>
              </a:prstGeom>
              <a:blipFill rotWithShape="1">
                <a:blip r:embed="rId2"/>
                <a:stretch>
                  <a:fillRect l="-3512" t="-4847" r="-373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: Rounded Corners 55"/>
              <p:cNvSpPr/>
              <p:nvPr/>
            </p:nvSpPr>
            <p:spPr>
              <a:xfrm>
                <a:off x="1003338" y="5621607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6" name="Rectangle: Rounded Corners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38" y="5621607"/>
                <a:ext cx="271761" cy="205994"/>
              </a:xfrm>
              <a:prstGeom prst="roundRect">
                <a:avLst/>
              </a:prstGeom>
              <a:blipFill rotWithShape="1">
                <a:blip r:embed="rId3"/>
                <a:stretch>
                  <a:fillRect l="-3519" t="-4909" r="-3732" b="-452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: Rounded Corners 56"/>
              <p:cNvSpPr/>
              <p:nvPr/>
            </p:nvSpPr>
            <p:spPr>
              <a:xfrm>
                <a:off x="1338618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7" name="Rectangle: Rounded Corners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618" y="5631005"/>
                <a:ext cx="271761" cy="205994"/>
              </a:xfrm>
              <a:prstGeom prst="roundRect">
                <a:avLst/>
              </a:prstGeom>
              <a:blipFill rotWithShape="1">
                <a:blip r:embed="rId4"/>
                <a:stretch>
                  <a:fillRect l="-3519" t="-4847" r="-3732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: Rounded Corners 57"/>
              <p:cNvSpPr/>
              <p:nvPr/>
            </p:nvSpPr>
            <p:spPr>
              <a:xfrm>
                <a:off x="1670094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8" name="Rectangle: Rounded Corners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094" y="5631005"/>
                <a:ext cx="271761" cy="205994"/>
              </a:xfrm>
              <a:prstGeom prst="roundRect">
                <a:avLst/>
              </a:prstGeom>
              <a:blipFill rotWithShape="1">
                <a:blip r:embed="rId5"/>
                <a:stretch>
                  <a:fillRect l="-3521" t="-4847" r="-372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Rectangle: Rounded Corners 66"/>
              <p:cNvSpPr/>
              <p:nvPr/>
            </p:nvSpPr>
            <p:spPr>
              <a:xfrm>
                <a:off x="2031997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7" name="Rectangle: Rounded Corners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7" y="5631699"/>
                <a:ext cx="271761" cy="205994"/>
              </a:xfrm>
              <a:prstGeom prst="roundRect">
                <a:avLst/>
              </a:prstGeom>
              <a:blipFill rotWithShape="1">
                <a:blip r:embed="rId6"/>
                <a:stretch>
                  <a:fillRect l="-3737" t="-4876" r="-3747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ectangle: Rounded Corners 67"/>
              <p:cNvSpPr/>
              <p:nvPr/>
            </p:nvSpPr>
            <p:spPr>
              <a:xfrm>
                <a:off x="2379996" y="562230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8" name="Rectangle: Rounded Corners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996" y="5622301"/>
                <a:ext cx="271761" cy="205994"/>
              </a:xfrm>
              <a:prstGeom prst="roundRect">
                <a:avLst/>
              </a:prstGeom>
              <a:blipFill rotWithShape="1">
                <a:blip r:embed="rId7"/>
                <a:stretch>
                  <a:fillRect l="-3511" t="-4629" r="-3740" b="-4495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Rectangle: Rounded Corners 68"/>
              <p:cNvSpPr/>
              <p:nvPr/>
            </p:nvSpPr>
            <p:spPr>
              <a:xfrm>
                <a:off x="2715276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9" name="Rectangle: Rounded Corners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276" y="5631699"/>
                <a:ext cx="271761" cy="205994"/>
              </a:xfrm>
              <a:prstGeom prst="roundRect">
                <a:avLst/>
              </a:prstGeom>
              <a:blipFill rotWithShape="1">
                <a:blip r:embed="rId8"/>
                <a:stretch>
                  <a:fillRect l="-3511" t="-4876" r="-3740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: Rounded Corners 69"/>
              <p:cNvSpPr/>
              <p:nvPr/>
            </p:nvSpPr>
            <p:spPr>
              <a:xfrm>
                <a:off x="3046752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0" name="Rectangle: Rounded Corners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752" y="5631699"/>
                <a:ext cx="271761" cy="205994"/>
              </a:xfrm>
              <a:prstGeom prst="roundRect">
                <a:avLst/>
              </a:prstGeom>
              <a:blipFill rotWithShape="1">
                <a:blip r:embed="rId9"/>
                <a:stretch>
                  <a:fillRect l="-3513" t="-4876" r="-3737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/>
              <p:cNvSpPr/>
              <p:nvPr/>
            </p:nvSpPr>
            <p:spPr>
              <a:xfrm>
                <a:off x="3402324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1" name="Rectangle: Rounded Corners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324" y="5631005"/>
                <a:ext cx="271761" cy="205994"/>
              </a:xfrm>
              <a:prstGeom prst="roundRect">
                <a:avLst/>
              </a:prstGeom>
              <a:blipFill rotWithShape="1">
                <a:blip r:embed="rId10"/>
                <a:stretch>
                  <a:fillRect l="-3736" t="-4847" r="-3748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: Rounded Corners 71"/>
              <p:cNvSpPr/>
              <p:nvPr/>
            </p:nvSpPr>
            <p:spPr>
              <a:xfrm>
                <a:off x="3750323" y="5621607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2" name="Rectangle: Rounded Corners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323" y="5621607"/>
                <a:ext cx="271761" cy="205994"/>
              </a:xfrm>
              <a:prstGeom prst="roundRect">
                <a:avLst/>
              </a:prstGeom>
              <a:blipFill rotWithShape="1">
                <a:blip r:embed="rId11"/>
                <a:stretch>
                  <a:fillRect l="-3510" t="-4909" r="-3741" b="-452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: Rounded Corners 72"/>
              <p:cNvSpPr/>
              <p:nvPr/>
            </p:nvSpPr>
            <p:spPr>
              <a:xfrm>
                <a:off x="4085603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3" name="Rectangle: Rounded Corners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603" y="5631005"/>
                <a:ext cx="271761" cy="205994"/>
              </a:xfrm>
              <a:prstGeom prst="roundRect">
                <a:avLst/>
              </a:prstGeom>
              <a:blipFill rotWithShape="1">
                <a:blip r:embed="rId12"/>
                <a:stretch>
                  <a:fillRect l="-3510" t="-4847" r="-3741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Rectangle: Rounded Corners 73"/>
              <p:cNvSpPr/>
              <p:nvPr/>
            </p:nvSpPr>
            <p:spPr>
              <a:xfrm>
                <a:off x="4417079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4" name="Rectangle: Rounded Corners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079" y="5631005"/>
                <a:ext cx="271761" cy="205994"/>
              </a:xfrm>
              <a:prstGeom prst="roundRect">
                <a:avLst/>
              </a:prstGeom>
              <a:blipFill rotWithShape="1">
                <a:blip r:embed="rId13"/>
                <a:stretch>
                  <a:fillRect l="-3512" t="-4847" r="-373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Rectangle: Rounded Corners 74"/>
              <p:cNvSpPr/>
              <p:nvPr/>
            </p:nvSpPr>
            <p:spPr>
              <a:xfrm>
                <a:off x="4794237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5" name="Rectangle: Rounded Corners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37" y="5618559"/>
                <a:ext cx="271761" cy="205994"/>
              </a:xfrm>
              <a:prstGeom prst="roundRect">
                <a:avLst/>
              </a:prstGeom>
              <a:blipFill rotWithShape="1">
                <a:blip r:embed="rId14"/>
                <a:stretch>
                  <a:fillRect l="-3734" t="-4662" r="-3750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: Rounded Corners 75"/>
              <p:cNvSpPr/>
              <p:nvPr/>
            </p:nvSpPr>
            <p:spPr>
              <a:xfrm>
                <a:off x="5142236" y="560916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6" name="Rectangle: Rounded Corners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236" y="5609161"/>
                <a:ext cx="271761" cy="205994"/>
              </a:xfrm>
              <a:prstGeom prst="roundRect">
                <a:avLst/>
              </a:prstGeom>
              <a:blipFill rotWithShape="1">
                <a:blip r:embed="rId15"/>
                <a:stretch>
                  <a:fillRect l="-3507" t="-4724" r="-3743" b="-4401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Rectangle: Rounded Corners 76"/>
              <p:cNvSpPr/>
              <p:nvPr/>
            </p:nvSpPr>
            <p:spPr>
              <a:xfrm>
                <a:off x="5477516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7" name="Rectangle: Rounded Corners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16" y="5618559"/>
                <a:ext cx="271761" cy="205994"/>
              </a:xfrm>
              <a:prstGeom prst="roundRect">
                <a:avLst/>
              </a:prstGeom>
              <a:blipFill rotWithShape="1">
                <a:blip r:embed="rId16"/>
                <a:stretch>
                  <a:fillRect l="-3507" t="-4662" r="-3743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Rectangle: Rounded Corners 77"/>
              <p:cNvSpPr/>
              <p:nvPr/>
            </p:nvSpPr>
            <p:spPr>
              <a:xfrm>
                <a:off x="5808992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8" name="Rectangle: Rounded Corners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992" y="5618559"/>
                <a:ext cx="271761" cy="205994"/>
              </a:xfrm>
              <a:prstGeom prst="roundRect">
                <a:avLst/>
              </a:prstGeom>
              <a:blipFill rotWithShape="1">
                <a:blip r:embed="rId17"/>
                <a:stretch>
                  <a:fillRect l="-3509" t="-4662" r="-3741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3"/>
              <p:cNvSpPr txBox="1"/>
              <p:nvPr/>
            </p:nvSpPr>
            <p:spPr>
              <a:xfrm>
                <a:off x="998235" y="4748625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35" y="4748625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18"/>
                <a:stretch>
                  <a:fillRect l="-3043" t="-1660" r="-8649" b="-1496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3"/>
          <p:cNvSpPr txBox="1"/>
          <p:nvPr/>
        </p:nvSpPr>
        <p:spPr>
          <a:xfrm>
            <a:off x="1335040" y="4746783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3"/>
          <p:cNvSpPr txBox="1"/>
          <p:nvPr/>
        </p:nvSpPr>
        <p:spPr>
          <a:xfrm>
            <a:off x="1666530" y="4741647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3"/>
              <p:cNvSpPr txBox="1"/>
              <p:nvPr/>
            </p:nvSpPr>
            <p:spPr>
              <a:xfrm>
                <a:off x="2039675" y="4744337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675" y="4744337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19"/>
                <a:stretch>
                  <a:fillRect l="-3058" t="-1692" r="-8634" b="-1465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 3"/>
              <p:cNvSpPr txBox="1"/>
              <p:nvPr/>
            </p:nvSpPr>
            <p:spPr>
              <a:xfrm>
                <a:off x="2376360" y="4745521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360" y="4745521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20"/>
                <a:stretch>
                  <a:fillRect l="-3108" t="-1674" r="-8584" b="-1482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 3"/>
          <p:cNvSpPr txBox="1"/>
          <p:nvPr/>
        </p:nvSpPr>
        <p:spPr>
          <a:xfrm>
            <a:off x="2713165" y="4743679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3"/>
          <p:cNvSpPr txBox="1"/>
          <p:nvPr/>
        </p:nvSpPr>
        <p:spPr>
          <a:xfrm>
            <a:off x="3044655" y="4738543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 3"/>
              <p:cNvSpPr txBox="1"/>
              <p:nvPr/>
            </p:nvSpPr>
            <p:spPr>
              <a:xfrm>
                <a:off x="3441734" y="4734538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1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734" y="4734538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21"/>
                <a:stretch>
                  <a:fillRect l="-3050" t="-1637" r="-8642" b="-1520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 3"/>
              <p:cNvSpPr txBox="1"/>
              <p:nvPr/>
            </p:nvSpPr>
            <p:spPr>
              <a:xfrm>
                <a:off x="3778419" y="4735722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2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419" y="4735722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22"/>
                <a:stretch>
                  <a:fillRect l="-3100" t="-1620" r="-8592" b="-1537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 3"/>
          <p:cNvSpPr txBox="1"/>
          <p:nvPr/>
        </p:nvSpPr>
        <p:spPr>
          <a:xfrm>
            <a:off x="4115224" y="4733880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3"/>
          <p:cNvSpPr txBox="1"/>
          <p:nvPr/>
        </p:nvSpPr>
        <p:spPr>
          <a:xfrm>
            <a:off x="4446714" y="4738472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 3"/>
              <p:cNvSpPr txBox="1"/>
              <p:nvPr/>
            </p:nvSpPr>
            <p:spPr>
              <a:xfrm>
                <a:off x="4811530" y="4744691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30" y="4744691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23"/>
                <a:stretch>
                  <a:fillRect l="-3087" t="-1636" r="-8604" b="-1521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 3"/>
              <p:cNvSpPr txBox="1"/>
              <p:nvPr/>
            </p:nvSpPr>
            <p:spPr>
              <a:xfrm>
                <a:off x="5148215" y="4745875"/>
                <a:ext cx="271757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sz="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6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215" y="4745875"/>
                <a:ext cx="271757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24"/>
                <a:stretch>
                  <a:fillRect l="-3137" t="-1619" r="-2713" b="-1538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 3"/>
          <p:cNvSpPr txBox="1"/>
          <p:nvPr/>
        </p:nvSpPr>
        <p:spPr>
          <a:xfrm>
            <a:off x="5485020" y="4744033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3"/>
          <p:cNvSpPr txBox="1"/>
          <p:nvPr/>
        </p:nvSpPr>
        <p:spPr>
          <a:xfrm>
            <a:off x="5816510" y="4738897"/>
            <a:ext cx="271757" cy="502920"/>
          </a:xfrm>
          <a:prstGeom prst="roundRect">
            <a:avLst>
              <a:gd name="adj" fmla="val 14545"/>
            </a:avLst>
          </a:prstGeom>
          <a:solidFill>
            <a:srgbClr val="D4E3F5"/>
          </a:solidFill>
          <a:ln w="15875">
            <a:solidFill>
              <a:srgbClr val="2F6DB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/>
          <p:cNvSpPr/>
          <p:nvPr/>
        </p:nvSpPr>
        <p:spPr>
          <a:xfrm>
            <a:off x="6918953" y="2380487"/>
            <a:ext cx="3520448" cy="2679189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579558" y="4559346"/>
            <a:ext cx="5593073" cy="2221484"/>
          </a:xfrm>
          <a:prstGeom prst="roundRect">
            <a:avLst>
              <a:gd name="adj" fmla="val 6498"/>
            </a:avLst>
          </a:prstGeom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SASRec</a:t>
            </a:r>
            <a:r>
              <a:rPr lang="en-US" sz="3200" dirty="0"/>
              <a:t> scores the next item (SID on input and output)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26433" y="601014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655339" y="4753102"/>
                <a:ext cx="1310629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39" y="4753102"/>
                <a:ext cx="1310629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1"/>
                <a:stretch>
                  <a:fillRect l="-631" t="-1667" r="-581" b="-1490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 flipV="1">
            <a:off x="1325880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3258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098032" y="60198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7"/>
              <p:cNvSpPr txBox="1"/>
              <p:nvPr/>
            </p:nvSpPr>
            <p:spPr>
              <a:xfrm>
                <a:off x="2011673" y="4739640"/>
                <a:ext cx="1325881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73" y="4739640"/>
                <a:ext cx="1325881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2"/>
                <a:stretch>
                  <a:fillRect l="-622" t="-1641" r="-575" b="-1515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9"/>
          <p:cNvSpPr/>
          <p:nvPr/>
        </p:nvSpPr>
        <p:spPr>
          <a:xfrm flipV="1">
            <a:off x="26974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474720" y="603275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1"/>
              <p:cNvSpPr txBox="1"/>
              <p:nvPr/>
            </p:nvSpPr>
            <p:spPr>
              <a:xfrm>
                <a:off x="3398523" y="4739640"/>
                <a:ext cx="1341119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23" y="4739640"/>
                <a:ext cx="1341119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3"/>
                <a:stretch>
                  <a:fillRect l="-616" t="-1641" r="-568" b="-1515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3"/>
          <p:cNvSpPr/>
          <p:nvPr/>
        </p:nvSpPr>
        <p:spPr>
          <a:xfrm flipV="1">
            <a:off x="40690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841229" y="6035852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5"/>
              <p:cNvSpPr txBox="1"/>
              <p:nvPr/>
            </p:nvSpPr>
            <p:spPr>
              <a:xfrm>
                <a:off x="4800603" y="4739640"/>
                <a:ext cx="1310638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4E3F5"/>
              </a:solidFill>
              <a:ln w="15875">
                <a:solidFill>
                  <a:srgbClr val="2F6DB5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+P[pos]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ex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3" y="4739640"/>
                <a:ext cx="1310638" cy="502920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4"/>
                <a:stretch>
                  <a:fillRect l="-630" t="-1641" r="-581" b="-1515"/>
                </a:stretch>
              </a:blipFill>
              <a:ln w="15875">
                <a:solidFill>
                  <a:srgbClr val="2F6DB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7"/>
          <p:cNvSpPr/>
          <p:nvPr/>
        </p:nvSpPr>
        <p:spPr>
          <a:xfrm flipV="1">
            <a:off x="5440680" y="4328160"/>
            <a:ext cx="0" cy="4114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" y="254508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6F4EF"/>
          </a:solidFill>
          <a:ln w="12700">
            <a:solidFill>
              <a:srgbClr val="8C877C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31520" y="26090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Transformer (2 blocks, causal attention) -&gt;  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2"/>
          <p:cNvSpPr txBox="1"/>
          <p:nvPr/>
        </p:nvSpPr>
        <p:spPr>
          <a:xfrm>
            <a:off x="731520" y="3080004"/>
            <a:ext cx="5303520" cy="1010412"/>
          </a:xfrm>
          <a:prstGeom prst="roundRect">
            <a:avLst>
              <a:gd name="adj" fmla="val 13333"/>
            </a:avLst>
          </a:prstGeom>
          <a:solidFill>
            <a:srgbClr val="E3E0D8"/>
          </a:solidFill>
          <a:ln w="15875">
            <a:solidFill>
              <a:srgbClr val="8C877C"/>
            </a:solidFill>
          </a:ln>
        </p:spPr>
        <p:txBody>
          <a:bodyPr wrap="square" lIns="50800" tIns="152400" rIns="1270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E3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self-attention + feed-forward blocks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4709160" y="3253740"/>
            <a:ext cx="1234440" cy="667512"/>
          </a:xfrm>
          <a:prstGeom prst="roundRect">
            <a:avLst>
              <a:gd name="adj" fmla="val 18182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 (r = 4)</a:t>
            </a:r>
            <a:endParaRPr lang="en-US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4572000" y="17678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q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6"/>
          <p:cNvSpPr/>
          <p:nvPr/>
        </p:nvSpPr>
        <p:spPr>
          <a:xfrm flipV="1">
            <a:off x="5440680" y="2289048"/>
            <a:ext cx="0" cy="6858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7" name="Shape 28"/>
          <p:cNvSpPr/>
          <p:nvPr/>
        </p:nvSpPr>
        <p:spPr>
          <a:xfrm>
            <a:off x="6309360" y="2019300"/>
            <a:ext cx="100584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8" name="Text 29"/>
          <p:cNvSpPr txBox="1"/>
          <p:nvPr/>
        </p:nvSpPr>
        <p:spPr>
          <a:xfrm>
            <a:off x="6355080" y="2087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 · every row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30"/>
          <p:cNvSpPr txBox="1"/>
          <p:nvPr/>
        </p:nvSpPr>
        <p:spPr>
          <a:xfrm>
            <a:off x="7315200" y="1767840"/>
            <a:ext cx="364490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5875">
            <a:solidFill>
              <a:srgbClr val="1B243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 E: one row per item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31"/>
          <p:cNvSpPr txBox="1"/>
          <p:nvPr/>
        </p:nvSpPr>
        <p:spPr>
          <a:xfrm>
            <a:off x="73152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2"/>
          <p:cNvSpPr txBox="1"/>
          <p:nvPr/>
        </p:nvSpPr>
        <p:spPr>
          <a:xfrm>
            <a:off x="8549640" y="23347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Embedding (64-d)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3"/>
          <p:cNvSpPr txBox="1"/>
          <p:nvPr/>
        </p:nvSpPr>
        <p:spPr>
          <a:xfrm>
            <a:off x="10515600" y="23347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33" name="Text 34"/>
          <p:cNvSpPr txBox="1"/>
          <p:nvPr/>
        </p:nvSpPr>
        <p:spPr>
          <a:xfrm>
            <a:off x="7089683" y="2636520"/>
            <a:ext cx="61222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 35"/>
              <p:cNvSpPr txBox="1"/>
              <p:nvPr/>
            </p:nvSpPr>
            <p:spPr>
              <a:xfrm>
                <a:off x="9130145" y="2636520"/>
                <a:ext cx="1248295" cy="384048"/>
              </a:xfrm>
              <a:prstGeom prst="roundRect">
                <a:avLst>
                  <a:gd name="adj" fmla="val 19048"/>
                </a:avLst>
              </a:prstGeom>
              <a:solidFill>
                <a:srgbClr val="E3E0D8"/>
              </a:solidFill>
              <a:ln w="15875">
                <a:solidFill>
                  <a:srgbClr val="C9C4B8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34" name="Tex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145" y="2636520"/>
                <a:ext cx="1248295" cy="384048"/>
              </a:xfrm>
              <a:prstGeom prst="roundRect">
                <a:avLst>
                  <a:gd name="adj" fmla="val 19048"/>
                </a:avLst>
              </a:prstGeom>
              <a:blipFill rotWithShape="1">
                <a:blip r:embed="rId5"/>
                <a:stretch>
                  <a:fillRect l="-671" t="-2149" r="-610" b="-2017"/>
                </a:stretch>
              </a:blipFill>
              <a:ln w="15875">
                <a:solidFill>
                  <a:srgbClr val="C9C4B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 36"/>
              <p:cNvSpPr txBox="1"/>
              <p:nvPr/>
            </p:nvSpPr>
            <p:spPr>
              <a:xfrm>
                <a:off x="10515600" y="2636520"/>
                <a:ext cx="109728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 ·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1300" dirty="0"/>
              </a:p>
            </p:txBody>
          </p:sp>
        </mc:Choice>
        <mc:Fallback>
          <p:sp>
            <p:nvSpPr>
              <p:cNvPr id="35" name="Tex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0" y="2636520"/>
                <a:ext cx="1097280" cy="384048"/>
              </a:xfrm>
              <a:prstGeom prst="rect">
                <a:avLst/>
              </a:prstGeom>
              <a:blipFill rotWithShape="1">
                <a:blip r:embed="rId6"/>
                <a:stretch>
                  <a:fillRect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37"/>
          <p:cNvSpPr txBox="1"/>
          <p:nvPr/>
        </p:nvSpPr>
        <p:spPr>
          <a:xfrm>
            <a:off x="7089683" y="3130295"/>
            <a:ext cx="61222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 39"/>
              <p:cNvSpPr txBox="1"/>
              <p:nvPr/>
            </p:nvSpPr>
            <p:spPr>
              <a:xfrm>
                <a:off x="10515600" y="3112008"/>
                <a:ext cx="109728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 ·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1300" dirty="0"/>
              </a:p>
            </p:txBody>
          </p:sp>
        </mc:Choice>
        <mc:Fallback>
          <p:sp>
            <p:nvSpPr>
              <p:cNvPr id="38" name="Tex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0" y="3112008"/>
                <a:ext cx="1097280" cy="384048"/>
              </a:xfrm>
              <a:prstGeom prst="rect">
                <a:avLst/>
              </a:prstGeom>
              <a:blipFill rotWithShape="1">
                <a:blip r:embed="rId7"/>
                <a:stretch>
                  <a:fillRect t="-132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40"/>
          <p:cNvSpPr txBox="1"/>
          <p:nvPr/>
        </p:nvSpPr>
        <p:spPr>
          <a:xfrm>
            <a:off x="7089684" y="3598494"/>
            <a:ext cx="612224" cy="384048"/>
          </a:xfrm>
          <a:prstGeom prst="roundRect">
            <a:avLst>
              <a:gd name="adj" fmla="val 19048"/>
            </a:avLst>
          </a:prstGeom>
          <a:solidFill>
            <a:srgbClr val="F7D9C6"/>
          </a:solidFill>
          <a:ln w="15875">
            <a:solidFill>
              <a:srgbClr val="C4541F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2A0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 42"/>
              <p:cNvSpPr txBox="1"/>
              <p:nvPr/>
            </p:nvSpPr>
            <p:spPr>
              <a:xfrm>
                <a:off x="10515600" y="3587496"/>
                <a:ext cx="109728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6B2A0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 ·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300" b="1" dirty="0">
                    <a:solidFill>
                      <a:srgbClr val="6B2A0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highest</a:t>
                </a:r>
                <a:endParaRPr lang="en-US" sz="1300" dirty="0"/>
              </a:p>
            </p:txBody>
          </p:sp>
        </mc:Choice>
        <mc:Fallback>
          <p:sp>
            <p:nvSpPr>
              <p:cNvPr id="41" name="Tex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0" y="3587496"/>
                <a:ext cx="1097280" cy="384048"/>
              </a:xfrm>
              <a:prstGeom prst="rect">
                <a:avLst/>
              </a:prstGeom>
              <a:blipFill rotWithShape="1">
                <a:blip r:embed="rId8"/>
                <a:stretch>
                  <a:fillRect t="-7209" b="-7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43"/>
          <p:cNvSpPr txBox="1"/>
          <p:nvPr/>
        </p:nvSpPr>
        <p:spPr>
          <a:xfrm>
            <a:off x="7315200" y="4062984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800" dirty="0"/>
          </a:p>
        </p:txBody>
      </p:sp>
      <p:sp>
        <p:nvSpPr>
          <p:cNvPr id="43" name="Text 44"/>
          <p:cNvSpPr txBox="1"/>
          <p:nvPr/>
        </p:nvSpPr>
        <p:spPr>
          <a:xfrm>
            <a:off x="7089683" y="4538472"/>
            <a:ext cx="61222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C9C4B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item V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 46"/>
              <p:cNvSpPr txBox="1"/>
              <p:nvPr/>
            </p:nvSpPr>
            <p:spPr>
              <a:xfrm>
                <a:off x="10515600" y="4538472"/>
                <a:ext cx="109728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 ·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𝑉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1300" dirty="0"/>
              </a:p>
            </p:txBody>
          </p:sp>
        </mc:Choice>
        <mc:Fallback>
          <p:sp>
            <p:nvSpPr>
              <p:cNvPr id="45" name="Tex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0" y="4538472"/>
                <a:ext cx="1097280" cy="384048"/>
              </a:xfrm>
              <a:prstGeom prst="rect">
                <a:avLst/>
              </a:prstGeom>
              <a:blipFill rotWithShape="1">
                <a:blip r:embed="rId9"/>
                <a:stretch>
                  <a:fillRect t="-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Shape 47"/>
          <p:cNvSpPr/>
          <p:nvPr/>
        </p:nvSpPr>
        <p:spPr>
          <a:xfrm>
            <a:off x="9464040" y="5059680"/>
            <a:ext cx="0" cy="22860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47" name="Text 48"/>
          <p:cNvSpPr txBox="1"/>
          <p:nvPr/>
        </p:nvSpPr>
        <p:spPr>
          <a:xfrm>
            <a:off x="7315200" y="5306568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8C877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all items → top-10 list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cross-entropy on the true next item</a:t>
            </a:r>
            <a:endParaRPr lang="en-US" sz="1300" dirty="0"/>
          </a:p>
        </p:txBody>
      </p:sp>
      <p:sp>
        <p:nvSpPr>
          <p:cNvPr id="49" name="Text 20"/>
          <p:cNvSpPr txBox="1"/>
          <p:nvPr/>
        </p:nvSpPr>
        <p:spPr>
          <a:xfrm>
            <a:off x="731520" y="646734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Input (user history)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20"/>
          <p:cNvSpPr txBox="1"/>
          <p:nvPr/>
        </p:nvSpPr>
        <p:spPr>
          <a:xfrm>
            <a:off x="6842761" y="408457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F5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Scoring table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4"/>
          <p:cNvSpPr/>
          <p:nvPr/>
        </p:nvSpPr>
        <p:spPr>
          <a:xfrm flipV="1">
            <a:off x="2692392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52" name="Shape 4"/>
          <p:cNvSpPr/>
          <p:nvPr/>
        </p:nvSpPr>
        <p:spPr>
          <a:xfrm flipV="1">
            <a:off x="4074160" y="5242560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53" name="Shape 4"/>
          <p:cNvSpPr/>
          <p:nvPr/>
        </p:nvSpPr>
        <p:spPr>
          <a:xfrm flipV="1">
            <a:off x="5461002" y="5260848"/>
            <a:ext cx="0" cy="24638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: Rounded Corners 53"/>
              <p:cNvSpPr/>
              <p:nvPr/>
            </p:nvSpPr>
            <p:spPr>
              <a:xfrm>
                <a:off x="655339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4" name="Rectangle: Rounded Corners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39" y="5631005"/>
                <a:ext cx="271761" cy="205994"/>
              </a:xfrm>
              <a:prstGeom prst="roundRect">
                <a:avLst/>
              </a:prstGeom>
              <a:blipFill rotWithShape="1">
                <a:blip r:embed="rId10"/>
                <a:stretch>
                  <a:fillRect l="-3512" t="-4847" r="-373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: Rounded Corners 55"/>
              <p:cNvSpPr/>
              <p:nvPr/>
            </p:nvSpPr>
            <p:spPr>
              <a:xfrm>
                <a:off x="1003338" y="5621607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6" name="Rectangle: Rounded Corners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38" y="5621607"/>
                <a:ext cx="271761" cy="205994"/>
              </a:xfrm>
              <a:prstGeom prst="roundRect">
                <a:avLst/>
              </a:prstGeom>
              <a:blipFill rotWithShape="1">
                <a:blip r:embed="rId11"/>
                <a:stretch>
                  <a:fillRect l="-3519" t="-4909" r="-3732" b="-452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: Rounded Corners 56"/>
              <p:cNvSpPr/>
              <p:nvPr/>
            </p:nvSpPr>
            <p:spPr>
              <a:xfrm>
                <a:off x="1338618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7" name="Rectangle: Rounded Corners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618" y="5631005"/>
                <a:ext cx="271761" cy="205994"/>
              </a:xfrm>
              <a:prstGeom prst="roundRect">
                <a:avLst/>
              </a:prstGeom>
              <a:blipFill rotWithShape="1">
                <a:blip r:embed="rId12"/>
                <a:stretch>
                  <a:fillRect l="-3519" t="-4847" r="-3732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: Rounded Corners 57"/>
              <p:cNvSpPr/>
              <p:nvPr/>
            </p:nvSpPr>
            <p:spPr>
              <a:xfrm>
                <a:off x="1670094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8" name="Rectangle: Rounded Corners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094" y="5631005"/>
                <a:ext cx="271761" cy="205994"/>
              </a:xfrm>
              <a:prstGeom prst="roundRect">
                <a:avLst/>
              </a:prstGeom>
              <a:blipFill rotWithShape="1">
                <a:blip r:embed="rId13"/>
                <a:stretch>
                  <a:fillRect l="-3521" t="-4847" r="-372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Rectangle: Rounded Corners 66"/>
              <p:cNvSpPr/>
              <p:nvPr/>
            </p:nvSpPr>
            <p:spPr>
              <a:xfrm>
                <a:off x="2031997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7" name="Rectangle: Rounded Corners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7" y="5631699"/>
                <a:ext cx="271761" cy="205994"/>
              </a:xfrm>
              <a:prstGeom prst="roundRect">
                <a:avLst/>
              </a:prstGeom>
              <a:blipFill rotWithShape="1">
                <a:blip r:embed="rId14"/>
                <a:stretch>
                  <a:fillRect l="-3737" t="-4876" r="-3747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ectangle: Rounded Corners 67"/>
              <p:cNvSpPr/>
              <p:nvPr/>
            </p:nvSpPr>
            <p:spPr>
              <a:xfrm>
                <a:off x="2379996" y="562230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8" name="Rectangle: Rounded Corners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996" y="5622301"/>
                <a:ext cx="271761" cy="205994"/>
              </a:xfrm>
              <a:prstGeom prst="roundRect">
                <a:avLst/>
              </a:prstGeom>
              <a:blipFill rotWithShape="1">
                <a:blip r:embed="rId15"/>
                <a:stretch>
                  <a:fillRect l="-3511" t="-4629" r="-3740" b="-4495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Rectangle: Rounded Corners 68"/>
              <p:cNvSpPr/>
              <p:nvPr/>
            </p:nvSpPr>
            <p:spPr>
              <a:xfrm>
                <a:off x="2715276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9" name="Rectangle: Rounded Corners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276" y="5631699"/>
                <a:ext cx="271761" cy="205994"/>
              </a:xfrm>
              <a:prstGeom prst="roundRect">
                <a:avLst/>
              </a:prstGeom>
              <a:blipFill rotWithShape="1">
                <a:blip r:embed="rId16"/>
                <a:stretch>
                  <a:fillRect l="-3511" t="-4876" r="-3740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: Rounded Corners 69"/>
              <p:cNvSpPr/>
              <p:nvPr/>
            </p:nvSpPr>
            <p:spPr>
              <a:xfrm>
                <a:off x="3046752" y="563169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0" name="Rectangle: Rounded Corners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752" y="5631699"/>
                <a:ext cx="271761" cy="205994"/>
              </a:xfrm>
              <a:prstGeom prst="roundRect">
                <a:avLst/>
              </a:prstGeom>
              <a:blipFill rotWithShape="1">
                <a:blip r:embed="rId17"/>
                <a:stretch>
                  <a:fillRect l="-3513" t="-4876" r="-3737" b="-455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/>
              <p:cNvSpPr/>
              <p:nvPr/>
            </p:nvSpPr>
            <p:spPr>
              <a:xfrm>
                <a:off x="3402324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1" name="Rectangle: Rounded Corners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324" y="5631005"/>
                <a:ext cx="271761" cy="205994"/>
              </a:xfrm>
              <a:prstGeom prst="roundRect">
                <a:avLst/>
              </a:prstGeom>
              <a:blipFill rotWithShape="1">
                <a:blip r:embed="rId18"/>
                <a:stretch>
                  <a:fillRect l="-3736" t="-4847" r="-3748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: Rounded Corners 71"/>
              <p:cNvSpPr/>
              <p:nvPr/>
            </p:nvSpPr>
            <p:spPr>
              <a:xfrm>
                <a:off x="3750323" y="5621607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2" name="Rectangle: Rounded Corners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323" y="5621607"/>
                <a:ext cx="271761" cy="205994"/>
              </a:xfrm>
              <a:prstGeom prst="roundRect">
                <a:avLst/>
              </a:prstGeom>
              <a:blipFill rotWithShape="1">
                <a:blip r:embed="rId19"/>
                <a:stretch>
                  <a:fillRect l="-3510" t="-4909" r="-3741" b="-452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: Rounded Corners 72"/>
              <p:cNvSpPr/>
              <p:nvPr/>
            </p:nvSpPr>
            <p:spPr>
              <a:xfrm>
                <a:off x="4085603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3" name="Rectangle: Rounded Corners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603" y="5631005"/>
                <a:ext cx="271761" cy="205994"/>
              </a:xfrm>
              <a:prstGeom prst="roundRect">
                <a:avLst/>
              </a:prstGeom>
              <a:blipFill rotWithShape="1">
                <a:blip r:embed="rId20"/>
                <a:stretch>
                  <a:fillRect l="-3510" t="-4847" r="-3741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Rectangle: Rounded Corners 73"/>
              <p:cNvSpPr/>
              <p:nvPr/>
            </p:nvSpPr>
            <p:spPr>
              <a:xfrm>
                <a:off x="4417079" y="563100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4" name="Rectangle: Rounded Corners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079" y="5631005"/>
                <a:ext cx="271761" cy="205994"/>
              </a:xfrm>
              <a:prstGeom prst="roundRect">
                <a:avLst/>
              </a:prstGeom>
              <a:blipFill rotWithShape="1">
                <a:blip r:embed="rId21"/>
                <a:stretch>
                  <a:fillRect l="-3512" t="-4847" r="-3739" b="-458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Rectangle: Rounded Corners 74"/>
              <p:cNvSpPr/>
              <p:nvPr/>
            </p:nvSpPr>
            <p:spPr>
              <a:xfrm>
                <a:off x="4794237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5" name="Rectangle: Rounded Corners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37" y="5618559"/>
                <a:ext cx="271761" cy="205994"/>
              </a:xfrm>
              <a:prstGeom prst="roundRect">
                <a:avLst/>
              </a:prstGeom>
              <a:blipFill rotWithShape="1">
                <a:blip r:embed="rId22"/>
                <a:stretch>
                  <a:fillRect l="-3734" t="-4662" r="-3750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: Rounded Corners 75"/>
              <p:cNvSpPr/>
              <p:nvPr/>
            </p:nvSpPr>
            <p:spPr>
              <a:xfrm>
                <a:off x="5142236" y="560916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6" name="Rectangle: Rounded Corners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236" y="5609161"/>
                <a:ext cx="271761" cy="205994"/>
              </a:xfrm>
              <a:prstGeom prst="roundRect">
                <a:avLst/>
              </a:prstGeom>
              <a:blipFill rotWithShape="1">
                <a:blip r:embed="rId23"/>
                <a:stretch>
                  <a:fillRect l="-3507" t="-4724" r="-3743" b="-4401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Rectangle: Rounded Corners 76"/>
              <p:cNvSpPr/>
              <p:nvPr/>
            </p:nvSpPr>
            <p:spPr>
              <a:xfrm>
                <a:off x="5477516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7" name="Rectangle: Rounded Corners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16" y="5618559"/>
                <a:ext cx="271761" cy="205994"/>
              </a:xfrm>
              <a:prstGeom prst="roundRect">
                <a:avLst/>
              </a:prstGeom>
              <a:blipFill rotWithShape="1">
                <a:blip r:embed="rId24"/>
                <a:stretch>
                  <a:fillRect l="-3507" t="-4662" r="-3743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Rectangle: Rounded Corners 77"/>
              <p:cNvSpPr/>
              <p:nvPr/>
            </p:nvSpPr>
            <p:spPr>
              <a:xfrm>
                <a:off x="5808992" y="5618559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8" name="Rectangle: Rounded Corners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992" y="5618559"/>
                <a:ext cx="271761" cy="205994"/>
              </a:xfrm>
              <a:prstGeom prst="roundRect">
                <a:avLst/>
              </a:prstGeom>
              <a:blipFill rotWithShape="1">
                <a:blip r:embed="rId25"/>
                <a:stretch>
                  <a:fillRect l="-3509" t="-4662" r="-3741" b="-446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35"/>
              <p:cNvSpPr txBox="1"/>
              <p:nvPr/>
            </p:nvSpPr>
            <p:spPr>
              <a:xfrm>
                <a:off x="9137650" y="3104719"/>
                <a:ext cx="1248295" cy="384048"/>
              </a:xfrm>
              <a:prstGeom prst="roundRect">
                <a:avLst>
                  <a:gd name="adj" fmla="val 19048"/>
                </a:avLst>
              </a:prstGeom>
              <a:solidFill>
                <a:srgbClr val="E3E0D8"/>
              </a:solidFill>
              <a:ln w="15875">
                <a:solidFill>
                  <a:srgbClr val="C9C4B8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3" name="Tex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650" y="3104719"/>
                <a:ext cx="1248295" cy="384048"/>
              </a:xfrm>
              <a:prstGeom prst="roundRect">
                <a:avLst>
                  <a:gd name="adj" fmla="val 19048"/>
                </a:avLst>
              </a:prstGeom>
              <a:blipFill rotWithShape="1">
                <a:blip r:embed="rId26"/>
                <a:stretch>
                  <a:fillRect l="-661" t="-2203" r="-620" b="-1964"/>
                </a:stretch>
              </a:blipFill>
              <a:ln w="15875">
                <a:solidFill>
                  <a:srgbClr val="C9C4B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35"/>
              <p:cNvSpPr txBox="1"/>
              <p:nvPr/>
            </p:nvSpPr>
            <p:spPr>
              <a:xfrm>
                <a:off x="9130144" y="3594785"/>
                <a:ext cx="1248295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58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11" name="Tex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144" y="3594785"/>
                <a:ext cx="1248295" cy="384048"/>
              </a:xfrm>
              <a:prstGeom prst="roundRect">
                <a:avLst>
                  <a:gd name="adj" fmla="val 19048"/>
                </a:avLst>
              </a:prstGeom>
              <a:blipFill rotWithShape="1">
                <a:blip r:embed="rId27"/>
                <a:stretch>
                  <a:fillRect l="-670" t="-2162" r="-611" b="-2004"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35"/>
              <p:cNvSpPr txBox="1"/>
              <p:nvPr/>
            </p:nvSpPr>
            <p:spPr>
              <a:xfrm>
                <a:off x="9130143" y="4511041"/>
                <a:ext cx="1248295" cy="384048"/>
              </a:xfrm>
              <a:prstGeom prst="roundRect">
                <a:avLst>
                  <a:gd name="adj" fmla="val 19048"/>
                </a:avLst>
              </a:prstGeom>
              <a:solidFill>
                <a:srgbClr val="E3E0D8"/>
              </a:solidFill>
              <a:ln w="15875">
                <a:solidFill>
                  <a:srgbClr val="C9C4B8"/>
                </a:solidFill>
              </a:ln>
            </p:spPr>
            <p:txBody>
              <a:bodyPr wrap="square" lIns="50800" tIns="50800" rIns="50800" bIns="5080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15" name="Tex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143" y="4511041"/>
                <a:ext cx="1248295" cy="384048"/>
              </a:xfrm>
              <a:prstGeom prst="roundRect">
                <a:avLst>
                  <a:gd name="adj" fmla="val 19048"/>
                </a:avLst>
              </a:prstGeom>
              <a:blipFill rotWithShape="1">
                <a:blip r:embed="rId28"/>
                <a:stretch>
                  <a:fillRect l="-670" t="-2150" r="-611" b="-2017"/>
                </a:stretch>
              </a:blipFill>
              <a:ln w="15875">
                <a:solidFill>
                  <a:srgbClr val="C9C4B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: Rounded Corners 60"/>
              <p:cNvSpPr/>
              <p:nvPr/>
            </p:nvSpPr>
            <p:spPr>
              <a:xfrm>
                <a:off x="7778145" y="274360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1" name="Rectangle: Rounded Corners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145" y="2743601"/>
                <a:ext cx="271761" cy="205994"/>
              </a:xfrm>
              <a:prstGeom prst="roundRect">
                <a:avLst/>
              </a:prstGeom>
              <a:blipFill rotWithShape="1">
                <a:blip r:embed="rId10"/>
                <a:stretch>
                  <a:fillRect l="-3516" t="-4819" r="-3735" b="-461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: Rounded Corners 61"/>
              <p:cNvSpPr/>
              <p:nvPr/>
            </p:nvSpPr>
            <p:spPr>
              <a:xfrm>
                <a:off x="8126144" y="2739582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2" name="Rectangle: Rounded Corners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144" y="2739582"/>
                <a:ext cx="271761" cy="205994"/>
              </a:xfrm>
              <a:prstGeom prst="roundRect">
                <a:avLst/>
              </a:prstGeom>
              <a:blipFill rotWithShape="1">
                <a:blip r:embed="rId11"/>
                <a:stretch>
                  <a:fillRect l="-3523" t="-4717" r="-3728" b="-440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: Rounded Corners 62"/>
              <p:cNvSpPr/>
              <p:nvPr/>
            </p:nvSpPr>
            <p:spPr>
              <a:xfrm>
                <a:off x="8461424" y="274360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3" name="Rectangle: Rounded Corners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424" y="2743601"/>
                <a:ext cx="271761" cy="205994"/>
              </a:xfrm>
              <a:prstGeom prst="roundRect">
                <a:avLst/>
              </a:prstGeom>
              <a:blipFill rotWithShape="1">
                <a:blip r:embed="rId12"/>
                <a:stretch>
                  <a:fillRect l="-3523" t="-4819" r="-3728" b="-461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: Rounded Corners 63"/>
              <p:cNvSpPr/>
              <p:nvPr/>
            </p:nvSpPr>
            <p:spPr>
              <a:xfrm>
                <a:off x="8792900" y="2743601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4" name="Rectangle: Rounded Corners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00" y="2743601"/>
                <a:ext cx="271761" cy="205994"/>
              </a:xfrm>
              <a:prstGeom prst="roundRect">
                <a:avLst/>
              </a:prstGeom>
              <a:blipFill rotWithShape="1">
                <a:blip r:embed="rId13"/>
                <a:stretch>
                  <a:fillRect l="-3525" t="-4819" r="-3725" b="-461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: Rounded Corners 64"/>
              <p:cNvSpPr/>
              <p:nvPr/>
            </p:nvSpPr>
            <p:spPr>
              <a:xfrm>
                <a:off x="7778145" y="3206183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5" name="Rectangle: Rounded Corners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145" y="3206183"/>
                <a:ext cx="271761" cy="205994"/>
              </a:xfrm>
              <a:prstGeom prst="roundRect">
                <a:avLst/>
              </a:prstGeom>
              <a:blipFill rotWithShape="1">
                <a:blip r:embed="rId14"/>
                <a:stretch>
                  <a:fillRect l="-3516" t="-4657" r="-3735" b="-4468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Rectangle: Rounded Corners 65"/>
              <p:cNvSpPr/>
              <p:nvPr/>
            </p:nvSpPr>
            <p:spPr>
              <a:xfrm>
                <a:off x="8126144" y="3196785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6" name="Rectangle: Rounded Corners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144" y="3196785"/>
                <a:ext cx="271761" cy="205994"/>
              </a:xfrm>
              <a:prstGeom prst="roundRect">
                <a:avLst/>
              </a:prstGeom>
              <a:blipFill rotWithShape="1">
                <a:blip r:embed="rId15"/>
                <a:stretch>
                  <a:fillRect l="-3523" t="-4719" r="-3728" b="-4406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Rectangle: Rounded Corners 78"/>
              <p:cNvSpPr/>
              <p:nvPr/>
            </p:nvSpPr>
            <p:spPr>
              <a:xfrm>
                <a:off x="8461424" y="3206183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9" name="Rectangle: Rounded Corners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424" y="3206183"/>
                <a:ext cx="271761" cy="205994"/>
              </a:xfrm>
              <a:prstGeom prst="roundRect">
                <a:avLst/>
              </a:prstGeom>
              <a:blipFill rotWithShape="1">
                <a:blip r:embed="rId16"/>
                <a:stretch>
                  <a:fillRect l="-3523" t="-4657" r="-3728" b="-4468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Rectangle: Rounded Corners 79"/>
              <p:cNvSpPr/>
              <p:nvPr/>
            </p:nvSpPr>
            <p:spPr>
              <a:xfrm>
                <a:off x="8792900" y="3206183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0" name="Rectangle: Rounded Corners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00" y="3206183"/>
                <a:ext cx="271761" cy="205994"/>
              </a:xfrm>
              <a:prstGeom prst="roundRect">
                <a:avLst/>
              </a:prstGeom>
              <a:blipFill rotWithShape="1">
                <a:blip r:embed="rId17"/>
                <a:stretch>
                  <a:fillRect l="-3525" t="-4657" r="-3725" b="-4468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Rectangle: Rounded Corners 80"/>
              <p:cNvSpPr/>
              <p:nvPr/>
            </p:nvSpPr>
            <p:spPr>
              <a:xfrm>
                <a:off x="7783654" y="4644280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1" name="Rectangle: Rounded Corners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654" y="4644280"/>
                <a:ext cx="271761" cy="205994"/>
              </a:xfrm>
              <a:prstGeom prst="roundRect">
                <a:avLst/>
              </a:prstGeom>
              <a:blipFill rotWithShape="1">
                <a:blip r:embed="rId29"/>
                <a:stretch>
                  <a:fillRect l="-3674" t="-4879" r="-6147" b="-455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Rectangle: Rounded Corners 81"/>
              <p:cNvSpPr/>
              <p:nvPr/>
            </p:nvSpPr>
            <p:spPr>
              <a:xfrm>
                <a:off x="8131653" y="4634882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2" name="Rectangle: Rounded Corners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653" y="4634882"/>
                <a:ext cx="271761" cy="205994"/>
              </a:xfrm>
              <a:prstGeom prst="roundRect">
                <a:avLst/>
              </a:prstGeom>
              <a:blipFill rotWithShape="1">
                <a:blip r:embed="rId30"/>
                <a:stretch>
                  <a:fillRect l="-3681" t="-4632" r="-6140" b="-4492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Rectangle: Rounded Corners 82"/>
              <p:cNvSpPr/>
              <p:nvPr/>
            </p:nvSpPr>
            <p:spPr>
              <a:xfrm>
                <a:off x="8466933" y="4644280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3" name="Rectangle: Rounded Corners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933" y="4644280"/>
                <a:ext cx="271761" cy="205994"/>
              </a:xfrm>
              <a:prstGeom prst="roundRect">
                <a:avLst/>
              </a:prstGeom>
              <a:blipFill rotWithShape="1">
                <a:blip r:embed="rId31"/>
                <a:stretch>
                  <a:fillRect l="-3681" t="-4879" r="-6140" b="-455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Rectangle: Rounded Corners 83"/>
              <p:cNvSpPr/>
              <p:nvPr/>
            </p:nvSpPr>
            <p:spPr>
              <a:xfrm>
                <a:off x="8798409" y="4644280"/>
                <a:ext cx="271761" cy="205994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4" name="Rectangle: Rounded Corners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409" y="4644280"/>
                <a:ext cx="271761" cy="205994"/>
              </a:xfrm>
              <a:prstGeom prst="roundRect">
                <a:avLst/>
              </a:prstGeom>
              <a:blipFill rotWithShape="1">
                <a:blip r:embed="rId32"/>
                <a:stretch>
                  <a:fillRect l="-3683" t="-4879" r="-6138" b="-4554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100" y="365126"/>
            <a:ext cx="10515600" cy="866774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 one component at a time to isolate SID effects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72" y="1788055"/>
            <a:ext cx="3552140" cy="19284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054" y="1844866"/>
            <a:ext cx="3980096" cy="18716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697" y="1817808"/>
            <a:ext cx="3824303" cy="17946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367" y="4428575"/>
            <a:ext cx="4385174" cy="23024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42" y="4561730"/>
            <a:ext cx="4639810" cy="2169262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8106112" y="2796330"/>
            <a:ext cx="2234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799997" y="2796330"/>
            <a:ext cx="2234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443135" y="3835400"/>
            <a:ext cx="3586565" cy="7263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443135" y="5344266"/>
            <a:ext cx="9415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100" y="365126"/>
            <a:ext cx="10515600" cy="866774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 one component at a time to isolate SID effects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72" y="1788055"/>
            <a:ext cx="3552140" cy="1928494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3952397" y="2796330"/>
            <a:ext cx="2234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987509" y="4000744"/>
            <a:ext cx="562391" cy="3889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362287" y="4000744"/>
            <a:ext cx="429546" cy="4145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82" y="4559221"/>
            <a:ext cx="4169918" cy="220122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170" y="4574347"/>
            <a:ext cx="4169918" cy="21860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310" y="1732980"/>
            <a:ext cx="4368523" cy="20386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ladder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5" y="1490940"/>
            <a:ext cx="6615214" cy="5367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73" y="27549"/>
            <a:ext cx="6995342" cy="16631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6379" y="1690688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Anchor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6526" y="2631837"/>
            <a:ext cx="980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Control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1900" y="3720346"/>
            <a:ext cx="2447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Isolates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compression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61900" y="4919114"/>
            <a:ext cx="383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Isolates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SID effect, codes summed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90436" y="6013708"/>
            <a:ext cx="394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Isolates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SID effect, codes unpacked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companion ladder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80843"/>
            <a:ext cx="6039843" cy="14923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76" y="1585091"/>
            <a:ext cx="5840524" cy="32997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8" y="5230147"/>
            <a:ext cx="5503640" cy="1407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0" y="2310995"/>
            <a:ext cx="1497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New Control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0626" y="3808342"/>
            <a:ext cx="549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Isolates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SID effect</a:t>
            </a:r>
            <a:r>
              <a:rPr lang="en-US" b="1" dirty="0"/>
              <a:t>, input codes unpacked, output codes is sum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separate</a:t>
            </a:r>
            <a:r>
              <a:rPr lang="en-US" b="1" dirty="0"/>
              <a:t> trainable codebooks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4444" y="5643506"/>
            <a:ext cx="549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Isolates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SID effect,</a:t>
            </a:r>
            <a:r>
              <a:rPr lang="en-US" b="1" dirty="0"/>
              <a:t> input and output codebooks are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same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65126"/>
            <a:ext cx="5473700" cy="31450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75" y="5157167"/>
            <a:ext cx="6337025" cy="133570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32" y="3597442"/>
            <a:ext cx="6560373" cy="15597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132" y="1443735"/>
            <a:ext cx="56512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free-table control (Stage 1.5) is the best input-side rung on both datasets: 0.0628 on Beauty, 0.0347 on Sports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Semantic ID models perform below this recall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companion control, stage 1.5’, is marginally better, so freeing the scoring table slightly improves performance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 the scoring side, untied beats tied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7399421" y="3886199"/>
            <a:ext cx="4211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Against the anchor (Stage 1), SIDs look like they outperform it on both datasets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Untying and additional training improves performance by 19.2% on Beauty and 4.9% on Sports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38" y="2414922"/>
            <a:ext cx="6352517" cy="3461765"/>
          </a:xfrm>
          <a:prstGeom prst="rect">
            <a:avLst/>
          </a:prstGeom>
        </p:spPr>
      </p:pic>
      <p:sp>
        <p:nvSpPr>
          <p:cNvPr id="5" name="Rectangle: Rounded Corners 4"/>
          <p:cNvSpPr/>
          <p:nvPr/>
        </p:nvSpPr>
        <p:spPr>
          <a:xfrm>
            <a:off x="519338" y="4761630"/>
            <a:ext cx="6352517" cy="544661"/>
          </a:xfrm>
          <a:prstGeom prst="roundRect">
            <a:avLst/>
          </a:prstGeom>
          <a:solidFill>
            <a:srgbClr val="FBE3D6">
              <a:alpha val="20000"/>
            </a:srgb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Main results</a:t>
            </a:r>
            <a:endParaRPr lang="en-US" dirty="0"/>
          </a:p>
        </p:txBody>
      </p:sp>
      <p:sp>
        <p:nvSpPr>
          <p:cNvPr id="9" name="Rectangle: Rounded Corners 8"/>
          <p:cNvSpPr/>
          <p:nvPr/>
        </p:nvSpPr>
        <p:spPr>
          <a:xfrm>
            <a:off x="519338" y="3270049"/>
            <a:ext cx="6352517" cy="544661"/>
          </a:xfrm>
          <a:prstGeom prst="roundRect">
            <a:avLst/>
          </a:prstGeom>
          <a:solidFill>
            <a:srgbClr val="FBE3D6">
              <a:alpha val="20000"/>
            </a:srgb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154" y="365125"/>
            <a:ext cx="4669346" cy="268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5154" y="3270049"/>
            <a:ext cx="4211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Against the control (stage 1.5) however, SIDs hurt overall performance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Compression costs 22-24%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SIDs result in decreased performance on both input side and input and scoring side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results – popularity stratified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63" y="1801724"/>
            <a:ext cx="7592770" cy="43881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09621" y="3513221"/>
            <a:ext cx="35493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rare-items benefit from SIDs?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 Beauty, the model with SIDs on both sides retrieves significantly more rare items than a free table on scoring side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However popular item retrieval is reduced for the model with SIDs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End-to-end comparisons between SID based models and Item ID models do not reveal the cost and benefit trade-offs of SIDs</a:t>
            </a:r>
            <a:endParaRPr lang="en-US" sz="1800" dirty="0"/>
          </a:p>
          <a:p>
            <a:r>
              <a:rPr lang="en-US" sz="1800" dirty="0"/>
              <a:t>Shared code embeddings reduce parameter requirements but do not always outperform well-optimized Item ID models</a:t>
            </a:r>
            <a:endParaRPr lang="en-US" sz="1800" dirty="0"/>
          </a:p>
          <a:p>
            <a:r>
              <a:rPr lang="en-US" sz="1800" dirty="0"/>
              <a:t>Semantic ID models can improve rare-item retrieval but at the expense of popular item retrieval </a:t>
            </a:r>
            <a:endParaRPr lang="en-US" sz="1800" dirty="0"/>
          </a:p>
          <a:p>
            <a:r>
              <a:rPr lang="en-US" sz="1800" dirty="0"/>
              <a:t>Comparison between SID based models and Item ID models requires careful component-level comparisons </a:t>
            </a:r>
            <a:endParaRPr lang="en-US" sz="1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32" y="1349425"/>
            <a:ext cx="8038497" cy="187327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0195" cy="97531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Semantic ID Drift: How to Update Codebooks?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60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800" u="sng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Two</a:t>
            </a:r>
            <a:r>
              <a:rPr lang="en-US" altLang="zh-CN" sz="1800" u="sng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 </a:t>
            </a:r>
            <a:r>
              <a:rPr lang="zh-CN" altLang="en-US" sz="1800" u="sng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- </a:t>
            </a:r>
            <a:r>
              <a:rPr lang="en-US" altLang="zh-CN" sz="1800" u="sng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stage pipeline:</a:t>
            </a:r>
            <a:endParaRPr lang="en-US" altLang="zh-CN" sz="1800" u="sng" dirty="0">
              <a:solidFill>
                <a:sysClr val="windowText" lastClr="000000"/>
              </a:solidFill>
              <a:latin typeface="Aptos" charset="0"/>
              <a:ea typeface="Aptos" charset="0"/>
              <a:cs typeface="Aptos" charset="0"/>
              <a:sym typeface="+mn-ea"/>
            </a:endParaRPr>
          </a:p>
          <a:p>
            <a:pPr>
              <a:buChar char="•"/>
            </a:pPr>
            <a:r>
              <a:rPr lang="en-US" altLang="zh-CN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Use a Qwen model to produce embeddings for news items</a:t>
            </a:r>
            <a:endParaRPr lang="en-US" altLang="zh-CN" sz="1800" dirty="0">
              <a:solidFill>
                <a:sysClr val="windowText" lastClr="000000"/>
              </a:solidFill>
              <a:latin typeface="Aptos" charset="0"/>
              <a:ea typeface="Aptos" charset="0"/>
              <a:cs typeface="Aptos" charset="0"/>
              <a:sym typeface="+mn-ea"/>
            </a:endParaRPr>
          </a:p>
          <a:p>
            <a:pPr>
              <a:buChar char="•"/>
            </a:pPr>
            <a:r>
              <a:rPr lang="en-US" altLang="zh-CN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Train RQ</a:t>
            </a:r>
            <a:r>
              <a:rPr lang="zh-CN" altLang="en-US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-</a:t>
            </a:r>
            <a:r>
              <a:rPr lang="en-US" altLang="zh-CN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VAE codebooks to codebooks</a:t>
            </a:r>
            <a:endParaRPr lang="en-US" altLang="zh-CN" sz="1800" dirty="0">
              <a:solidFill>
                <a:sysClr val="windowText" lastClr="000000"/>
              </a:solidFill>
              <a:latin typeface="Aptos" charset="0"/>
              <a:ea typeface="Aptos" charset="0"/>
              <a:cs typeface="Aptos" charset="0"/>
              <a:sym typeface="+mn-ea"/>
            </a:endParaRPr>
          </a:p>
          <a:p>
            <a:pPr>
              <a:buChar char="•"/>
            </a:pPr>
            <a:r>
              <a:rPr lang="en-US" altLang="zh-CN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Use the produced Semantic IDs as features (pool the corresponding embeddings) in a downstream CTR model</a:t>
            </a:r>
            <a:endParaRPr lang="en-US" altLang="zh-CN" sz="1800" dirty="0">
              <a:solidFill>
                <a:sysClr val="windowText" lastClr="000000"/>
              </a:solidFill>
              <a:latin typeface="Aptos" charset="0"/>
              <a:ea typeface="Aptos" charset="0"/>
              <a:cs typeface="Aptos" charset="0"/>
              <a:sym typeface="+mn-ea"/>
            </a:endParaRPr>
          </a:p>
          <a:p>
            <a:pPr lvl="1">
              <a:buChar char="•"/>
            </a:pPr>
            <a:r>
              <a:rPr lang="en-US" altLang="zh-CN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Not a generative model</a:t>
            </a:r>
            <a:endParaRPr lang="en-US" altLang="zh-CN" sz="1800" dirty="0">
              <a:solidFill>
                <a:sysClr val="windowText" lastClr="000000"/>
              </a:solidFill>
              <a:latin typeface="Aptos" charset="0"/>
              <a:ea typeface="Aptos" charset="0"/>
              <a:cs typeface="Aptos" charset="0"/>
              <a:sym typeface="+mn-ea"/>
            </a:endParaRPr>
          </a:p>
          <a:p>
            <a:pPr lvl="1">
              <a:buChar char="•"/>
            </a:pPr>
            <a:r>
              <a:rPr lang="en-US" altLang="zh-CN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The downstream CTR model is </a:t>
            </a:r>
            <a:r>
              <a:rPr lang="en-US" altLang="zh-CN" sz="1800" u="sng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incrementally</a:t>
            </a:r>
            <a:r>
              <a:rPr lang="en-US" altLang="zh-CN" sz="1800" dirty="0">
                <a:solidFill>
                  <a:sysClr val="windowText" lastClr="000000"/>
                </a:solidFill>
                <a:latin typeface="Aptos" charset="0"/>
                <a:ea typeface="Aptos" charset="0"/>
                <a:cs typeface="Aptos" charset="0"/>
                <a:sym typeface="+mn-ea"/>
              </a:rPr>
              <a:t> trained on new user interactions data</a:t>
            </a:r>
            <a:endParaRPr lang="en-US" sz="1800" dirty="0">
              <a:latin typeface="Aptos" charset="0"/>
              <a:ea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 userDrawn="1"/>
        </p:nvSpPr>
        <p:spPr>
          <a:xfrm>
            <a:off x="838207" y="1158480"/>
            <a:ext cx="9265285" cy="39878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000"/>
              <a:t>Motivation: Recommending news items in the HQ Browser Newsfeed SID project</a:t>
            </a:r>
            <a:endParaRPr lang="zh-CN" altLang="en-US" sz="2000"/>
          </a:p>
        </p:txBody>
      </p:sp>
      <p:pic>
        <p:nvPicPr>
          <p:cNvPr id="7" name="Picture 6" descr="upload_post_object_v2_3014575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7" y="3807604"/>
            <a:ext cx="6541106" cy="2640669"/>
          </a:xfrm>
          <a:prstGeom prst="rect">
            <a:avLst/>
          </a:prstGeom>
        </p:spPr>
      </p:pic>
      <p:sp>
        <p:nvSpPr>
          <p:cNvPr id="6" name="Rectangles 5"/>
          <p:cNvSpPr/>
          <p:nvPr userDrawn="1"/>
        </p:nvSpPr>
        <p:spPr>
          <a:xfrm>
            <a:off x="4547558" y="4259796"/>
            <a:ext cx="2838881" cy="222619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mpd="sng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1634940" y="4955945"/>
            <a:ext cx="350252" cy="313383"/>
          </a:xfrm>
          <a:prstGeom prst="ellipse">
            <a:avLst/>
          </a:prstGeom>
          <a:solidFill>
            <a:srgbClr val="D4E3F5">
              <a:alpha val="100000"/>
            </a:srgbClr>
          </a:solidFill>
          <a:ln w="19050" cmpd="sng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Oval 9"/>
          <p:cNvSpPr/>
          <p:nvPr userDrawn="1"/>
        </p:nvSpPr>
        <p:spPr>
          <a:xfrm>
            <a:off x="2608347" y="4924583"/>
            <a:ext cx="296037" cy="344696"/>
          </a:xfrm>
          <a:prstGeom prst="ellipse">
            <a:avLst/>
          </a:prstGeom>
          <a:solidFill>
            <a:srgbClr val="DCCCED">
              <a:alpha val="100000"/>
            </a:srgbClr>
          </a:solidFill>
          <a:ln w="19050" cmpd="sng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Oval 10"/>
          <p:cNvSpPr/>
          <p:nvPr userDrawn="1"/>
        </p:nvSpPr>
        <p:spPr>
          <a:xfrm>
            <a:off x="4177456" y="4924583"/>
            <a:ext cx="262622" cy="344696"/>
          </a:xfrm>
          <a:prstGeom prst="ellipse">
            <a:avLst/>
          </a:prstGeom>
          <a:solidFill>
            <a:srgbClr val="FFF2CC">
              <a:alpha val="100000"/>
            </a:srgbClr>
          </a:solidFill>
          <a:ln w="19050" cmpd="sng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Literature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Literature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How to measure semantic drift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Incremental update strategies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Applying hungarian mapping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Downstream experiments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Research: prefix</a:t>
            </a:r>
            <a:r>
              <a:rPr lang="zh-CN" altLang="en-US"/>
              <a:t>-</a:t>
            </a:r>
            <a:r>
              <a:rPr lang="en-US" altLang="zh-CN"/>
              <a:t>based alignment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Research: history</a:t>
            </a:r>
            <a:r>
              <a:rPr lang="zh-CN" altLang="en-US"/>
              <a:t>-</a:t>
            </a:r>
            <a:r>
              <a:rPr lang="en-US" altLang="zh-CN"/>
              <a:t>aware updates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7079</Words>
  <Application>WPS Office WWO_wpscloud_20230922035034-9147342a44</Application>
  <PresentationFormat>Widescreen</PresentationFormat>
  <Paragraphs>572</Paragraphs>
  <Slides>25</Slides>
  <Notes>0</Notes>
  <HiddenSlides>3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Arial</vt:lpstr>
      <vt:lpstr>Arial</vt:lpstr>
      <vt:lpstr>Calibri</vt:lpstr>
      <vt:lpstr>Calibri</vt:lpstr>
      <vt:lpstr>Calibri</vt:lpstr>
      <vt:lpstr>Cambria Math</vt:lpstr>
      <vt:lpstr>汉仪书宋二KW</vt:lpstr>
      <vt:lpstr>Kingsoft Confetti</vt:lpstr>
      <vt:lpstr>Kingsoft Math</vt:lpstr>
      <vt:lpstr>Aptos</vt:lpstr>
      <vt:lpstr>Aptos Display</vt:lpstr>
      <vt:lpstr>等线</vt:lpstr>
      <vt:lpstr>汉仪中等线KW</vt:lpstr>
      <vt:lpstr>Office Theme</vt:lpstr>
      <vt:lpstr>PowerPoint 演示文稿</vt:lpstr>
      <vt:lpstr>Semantic IDs promise a smaller model and better generalization (and performance)</vt:lpstr>
      <vt:lpstr>Reported improvements in overall performance cannot be attributed to SIDs alone</vt:lpstr>
      <vt:lpstr>How SASRec scores the next item</vt:lpstr>
      <vt:lpstr>How SASRec scores the next item (SID on input)</vt:lpstr>
      <vt:lpstr>How SASRec scores the next item (SID on input)</vt:lpstr>
      <vt:lpstr>How SASRec scores the next item (SID on input and output)</vt:lpstr>
      <vt:lpstr>Change one component at a time to isolate SID effects</vt:lpstr>
      <vt:lpstr>Change one component at a time to isolate SID effects</vt:lpstr>
      <vt:lpstr>The ladder</vt:lpstr>
      <vt:lpstr>The companion ladder</vt:lpstr>
      <vt:lpstr>Main results</vt:lpstr>
      <vt:lpstr>Main results</vt:lpstr>
      <vt:lpstr>Main results – popularity stratified</vt:lpstr>
      <vt:lpstr>Conclusions</vt:lpstr>
      <vt:lpstr>PowerPoint 演示文稿</vt:lpstr>
      <vt:lpstr>Conclusions</vt:lpstr>
      <vt:lpstr>PowerPoint 演示文稿</vt:lpstr>
      <vt:lpstr>Literature</vt:lpstr>
      <vt:lpstr>PowerPoint 演示文稿</vt:lpstr>
      <vt:lpstr>How to measure semantic drift</vt:lpstr>
      <vt:lpstr>Production experiment -  measure semantic drift</vt:lpstr>
      <vt:lpstr>Production experiment -  measure semantic drift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Kim</dc:creator>
  <cp:lastModifiedBy>Tatiana Kim</cp:lastModifiedBy>
  <dcterms:created xsi:type="dcterms:W3CDTF">2026-10-29T10:32:13Z</dcterms:created>
  <dcterms:modified xsi:type="dcterms:W3CDTF">2026-10-29T10:32:13Z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